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p:regular r:id="rId22"/>
      <p:bold r:id="rId23"/>
      <p:italic r:id="rId24"/>
      <p:boldItalic r:id="rId25"/>
    </p:embeddedFont>
    <p:embeddedFont>
      <p:font typeface="Poppi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regular.fntdata"/><Relationship Id="rId25" Type="http://schemas.openxmlformats.org/officeDocument/2006/relationships/font" Target="fonts/Roboto-boldItalic.fntdata"/><Relationship Id="rId28" Type="http://schemas.openxmlformats.org/officeDocument/2006/relationships/font" Target="fonts/Poppins-italic.fntdata"/><Relationship Id="rId27" Type="http://schemas.openxmlformats.org/officeDocument/2006/relationships/font" Target="fonts/Poppi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9f0d8e9d0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9f0d8e9d0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9f0d8e9d0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9f0d8e9d0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9f0d8e9d0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9f0d8e9d0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9f0d8e9d0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9f0d8e9d0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9f0d8e9d0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9f0d8e9d0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9f0d8e9d0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9f0d8e9d0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9f0d8e9d0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9f0d8e9d0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9f0d8e9d0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9f0d8e9d0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9f0d8e9d0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9f0d8e9d0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9f0d8e9d0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9f0d8e9d0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9f0d8e9d0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9f0d8e9d0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9f0d8e9d0c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9f0d8e9d0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9f0d8e9d0c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9f0d8e9d0c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9f0d8e9d0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9f0d8e9d0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9f0d8e9d0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9f0d8e9d0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www.youtube.com/watch?v=7OVg-7Kpsq4" TargetMode="External"/><Relationship Id="rId4"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4020">
                <a:latin typeface="Poppins"/>
                <a:ea typeface="Poppins"/>
                <a:cs typeface="Poppins"/>
                <a:sym typeface="Poppins"/>
              </a:rPr>
              <a:t>Inflation's Ripple Effect: Unraveling the Socioeconomic Threads of Income Inequality</a:t>
            </a:r>
            <a:endParaRPr sz="4020">
              <a:latin typeface="Poppins"/>
              <a:ea typeface="Poppins"/>
              <a:cs typeface="Poppins"/>
              <a:sym typeface="Poppins"/>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latin typeface="Poppins"/>
                <a:ea typeface="Poppins"/>
                <a:cs typeface="Poppins"/>
                <a:sym typeface="Poppins"/>
              </a:rPr>
              <a:t>A Presentation by Adriel Willis</a:t>
            </a:r>
            <a:endParaRPr>
              <a:latin typeface="Poppins"/>
              <a:ea typeface="Poppins"/>
              <a:cs typeface="Poppins"/>
              <a:sym typeface="Poppins"/>
            </a:endParaRPr>
          </a:p>
        </p:txBody>
      </p:sp>
      <p:sp>
        <p:nvSpPr>
          <p:cNvPr id="69" name="Google Shape;69;p13"/>
          <p:cNvSpPr txBox="1"/>
          <p:nvPr>
            <p:ph idx="1" type="subTitle"/>
          </p:nvPr>
        </p:nvSpPr>
        <p:spPr>
          <a:xfrm>
            <a:off x="460950" y="3258280"/>
            <a:ext cx="8222100" cy="4329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None/>
            </a:pPr>
            <a:r>
              <a:rPr lang="en" sz="1500">
                <a:latin typeface="Poppins"/>
                <a:ea typeface="Poppins"/>
                <a:cs typeface="Poppins"/>
                <a:sym typeface="Poppins"/>
              </a:rPr>
              <a:t>November 17, 2023</a:t>
            </a:r>
            <a:endParaRPr sz="150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Poppins"/>
                <a:ea typeface="Poppins"/>
                <a:cs typeface="Poppins"/>
                <a:sym typeface="Poppins"/>
              </a:rPr>
              <a:t>Research Question</a:t>
            </a:r>
            <a:endParaRPr>
              <a:latin typeface="Poppins"/>
              <a:ea typeface="Poppins"/>
              <a:cs typeface="Poppins"/>
              <a:sym typeface="Poppins"/>
            </a:endParaRPr>
          </a:p>
        </p:txBody>
      </p:sp>
      <p:sp>
        <p:nvSpPr>
          <p:cNvPr id="75" name="Google Shape;75;p1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Poppins"/>
                <a:ea typeface="Poppins"/>
                <a:cs typeface="Poppins"/>
                <a:sym typeface="Poppins"/>
              </a:rPr>
              <a:t>How does inflation impact income inequality, and what are the social consequences of a widening wealth gap in diverse economic environment?</a:t>
            </a:r>
            <a:endParaRPr>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Poppins"/>
                <a:ea typeface="Poppins"/>
                <a:cs typeface="Poppins"/>
                <a:sym typeface="Poppins"/>
              </a:rPr>
              <a:t>Thesis Statement</a:t>
            </a:r>
            <a:endParaRPr>
              <a:latin typeface="Poppins"/>
              <a:ea typeface="Poppins"/>
              <a:cs typeface="Poppins"/>
              <a:sym typeface="Poppins"/>
            </a:endParaRPr>
          </a:p>
        </p:txBody>
      </p:sp>
      <p:sp>
        <p:nvSpPr>
          <p:cNvPr id="81" name="Google Shape;81;p1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Poppins"/>
                <a:ea typeface="Poppins"/>
                <a:cs typeface="Poppins"/>
                <a:sym typeface="Poppins"/>
              </a:rPr>
              <a:t>My </a:t>
            </a:r>
            <a:r>
              <a:rPr lang="en">
                <a:latin typeface="Poppins"/>
                <a:ea typeface="Poppins"/>
                <a:cs typeface="Poppins"/>
                <a:sym typeface="Poppins"/>
              </a:rPr>
              <a:t>paper asserts that inflation, when left unaddressed, exacerbates income inequality, leading to social disparities and diminished opportunities for vulnerable populations.</a:t>
            </a:r>
            <a:endParaRPr>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Poppins"/>
                <a:ea typeface="Poppins"/>
                <a:cs typeface="Poppins"/>
                <a:sym typeface="Poppins"/>
              </a:rPr>
              <a:t>Introduction</a:t>
            </a:r>
            <a:endParaRPr>
              <a:latin typeface="Poppins"/>
              <a:ea typeface="Poppins"/>
              <a:cs typeface="Poppins"/>
              <a:sym typeface="Poppins"/>
            </a:endParaRPr>
          </a:p>
        </p:txBody>
      </p:sp>
      <p:sp>
        <p:nvSpPr>
          <p:cNvPr id="87" name="Google Shape;87;p1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Poppins"/>
              <a:buChar char="●"/>
            </a:pPr>
            <a:r>
              <a:rPr lang="en">
                <a:latin typeface="Poppins"/>
                <a:ea typeface="Poppins"/>
                <a:cs typeface="Poppins"/>
                <a:sym typeface="Poppins"/>
              </a:rPr>
              <a:t>Brief overview of income inequality as a persistent concern in the United States.</a:t>
            </a:r>
            <a:endParaRPr>
              <a:latin typeface="Poppins"/>
              <a:ea typeface="Poppins"/>
              <a:cs typeface="Poppins"/>
              <a:sym typeface="Poppins"/>
            </a:endParaRPr>
          </a:p>
          <a:p>
            <a:pPr indent="-342900" lvl="0" marL="457200" rtl="0" algn="l">
              <a:spcBef>
                <a:spcPts val="0"/>
              </a:spcBef>
              <a:spcAft>
                <a:spcPts val="0"/>
              </a:spcAft>
              <a:buSzPts val="1800"/>
              <a:buFont typeface="Poppins"/>
              <a:buChar char="●"/>
            </a:pPr>
            <a:r>
              <a:rPr lang="en">
                <a:latin typeface="Poppins"/>
                <a:ea typeface="Poppins"/>
                <a:cs typeface="Poppins"/>
                <a:sym typeface="Poppins"/>
              </a:rPr>
              <a:t>The role of fiscal and monetary policies</a:t>
            </a:r>
            <a:endParaRPr>
              <a:latin typeface="Poppins"/>
              <a:ea typeface="Poppins"/>
              <a:cs typeface="Poppins"/>
              <a:sym typeface="Poppins"/>
            </a:endParaRPr>
          </a:p>
        </p:txBody>
      </p:sp>
      <p:pic>
        <p:nvPicPr>
          <p:cNvPr id="88" name="Google Shape;88;p16"/>
          <p:cNvPicPr preferRelativeResize="0"/>
          <p:nvPr/>
        </p:nvPicPr>
        <p:blipFill>
          <a:blip r:embed="rId3">
            <a:alphaModFix/>
          </a:blip>
          <a:stretch>
            <a:fillRect/>
          </a:stretch>
        </p:blipFill>
        <p:spPr>
          <a:xfrm>
            <a:off x="5660775" y="2944100"/>
            <a:ext cx="3483224" cy="2199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Poppins"/>
                <a:ea typeface="Poppins"/>
                <a:cs typeface="Poppins"/>
                <a:sym typeface="Poppins"/>
              </a:rPr>
              <a:t>“Explain The Issue Like I am Five?”</a:t>
            </a:r>
            <a:endParaRPr>
              <a:latin typeface="Poppins"/>
              <a:ea typeface="Poppins"/>
              <a:cs typeface="Poppins"/>
              <a:sym typeface="Poppins"/>
            </a:endParaRPr>
          </a:p>
        </p:txBody>
      </p:sp>
      <p:sp>
        <p:nvSpPr>
          <p:cNvPr id="94" name="Google Shape;94;p1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Poppins"/>
              <a:buChar char="●"/>
            </a:pPr>
            <a:r>
              <a:rPr lang="en">
                <a:latin typeface="Poppins"/>
                <a:ea typeface="Poppins"/>
                <a:cs typeface="Poppins"/>
                <a:sym typeface="Poppins"/>
              </a:rPr>
              <a:t>The best way to explain such an intricate issue like this is to explain it the way I would to a five year old </a:t>
            </a:r>
            <a:endParaRPr>
              <a:latin typeface="Poppins"/>
              <a:ea typeface="Poppins"/>
              <a:cs typeface="Poppins"/>
              <a:sym typeface="Poppins"/>
            </a:endParaRPr>
          </a:p>
        </p:txBody>
      </p:sp>
      <p:pic>
        <p:nvPicPr>
          <p:cNvPr id="95" name="Google Shape;95;p17"/>
          <p:cNvPicPr preferRelativeResize="0"/>
          <p:nvPr/>
        </p:nvPicPr>
        <p:blipFill rotWithShape="1">
          <a:blip r:embed="rId3">
            <a:alphaModFix/>
          </a:blip>
          <a:srcRect b="7140" l="0" r="0" t="0"/>
          <a:stretch/>
        </p:blipFill>
        <p:spPr>
          <a:xfrm>
            <a:off x="5991350" y="2433300"/>
            <a:ext cx="2858576" cy="2710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ELI5 Continued(Income Inequality)</a:t>
            </a:r>
            <a:endParaRPr/>
          </a:p>
        </p:txBody>
      </p:sp>
      <p:sp>
        <p:nvSpPr>
          <p:cNvPr id="101" name="Google Shape;101;p1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Font typeface="Poppins"/>
              <a:buChar char="●"/>
            </a:pPr>
            <a:r>
              <a:rPr lang="en" sz="1500">
                <a:latin typeface="Poppins"/>
                <a:ea typeface="Poppins"/>
                <a:cs typeface="Poppins"/>
                <a:sym typeface="Poppins"/>
              </a:rPr>
              <a:t>Imagine you and your friends also get toys every week as a reward</a:t>
            </a:r>
            <a:endParaRPr sz="1500">
              <a:latin typeface="Poppins"/>
              <a:ea typeface="Poppins"/>
              <a:cs typeface="Poppins"/>
              <a:sym typeface="Poppins"/>
            </a:endParaRPr>
          </a:p>
          <a:p>
            <a:pPr indent="-323850" lvl="0" marL="457200" rtl="0" algn="l">
              <a:spcBef>
                <a:spcPts val="0"/>
              </a:spcBef>
              <a:spcAft>
                <a:spcPts val="0"/>
              </a:spcAft>
              <a:buSzPts val="1500"/>
              <a:buFont typeface="Poppins"/>
              <a:buChar char="●"/>
            </a:pPr>
            <a:r>
              <a:rPr lang="en" sz="1500">
                <a:latin typeface="Poppins"/>
                <a:ea typeface="Poppins"/>
                <a:cs typeface="Poppins"/>
                <a:sym typeface="Poppins"/>
              </a:rPr>
              <a:t>But, here's the thing - some friends get more toys, and some friends get fewer toys. </a:t>
            </a:r>
            <a:endParaRPr sz="1500">
              <a:latin typeface="Poppins"/>
              <a:ea typeface="Poppins"/>
              <a:cs typeface="Poppins"/>
              <a:sym typeface="Poppins"/>
            </a:endParaRPr>
          </a:p>
          <a:p>
            <a:pPr indent="-323850" lvl="0" marL="457200" rtl="0" algn="l">
              <a:spcBef>
                <a:spcPts val="0"/>
              </a:spcBef>
              <a:spcAft>
                <a:spcPts val="0"/>
              </a:spcAft>
              <a:buSzPts val="1500"/>
              <a:buFont typeface="Poppins"/>
              <a:buChar char="●"/>
            </a:pPr>
            <a:r>
              <a:rPr lang="en" sz="1500">
                <a:latin typeface="Poppins"/>
                <a:ea typeface="Poppins"/>
                <a:cs typeface="Poppins"/>
                <a:sym typeface="Poppins"/>
              </a:rPr>
              <a:t>That's a bit like income inequality! Some families have more money, and some have less. This can make it seem like some friends have more toys and candy to enjoy than others.</a:t>
            </a:r>
            <a:endParaRPr sz="1500">
              <a:latin typeface="Poppins"/>
              <a:ea typeface="Poppins"/>
              <a:cs typeface="Poppins"/>
              <a:sym typeface="Poppins"/>
            </a:endParaRPr>
          </a:p>
        </p:txBody>
      </p:sp>
      <p:pic>
        <p:nvPicPr>
          <p:cNvPr id="102" name="Google Shape;102;p18"/>
          <p:cNvPicPr preferRelativeResize="0"/>
          <p:nvPr/>
        </p:nvPicPr>
        <p:blipFill>
          <a:blip r:embed="rId3">
            <a:alphaModFix/>
          </a:blip>
          <a:stretch>
            <a:fillRect/>
          </a:stretch>
        </p:blipFill>
        <p:spPr>
          <a:xfrm>
            <a:off x="6419175" y="3400075"/>
            <a:ext cx="1976025" cy="1743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Poppins"/>
                <a:ea typeface="Poppins"/>
                <a:cs typeface="Poppins"/>
                <a:sym typeface="Poppins"/>
              </a:rPr>
              <a:t>ELI5 Continued (Inflation)</a:t>
            </a:r>
            <a:endParaRPr>
              <a:latin typeface="Poppins"/>
              <a:ea typeface="Poppins"/>
              <a:cs typeface="Poppins"/>
              <a:sym typeface="Poppins"/>
            </a:endParaRPr>
          </a:p>
        </p:txBody>
      </p:sp>
      <p:sp>
        <p:nvSpPr>
          <p:cNvPr id="108" name="Google Shape;108;p1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Font typeface="Poppins"/>
              <a:buChar char="●"/>
            </a:pPr>
            <a:r>
              <a:rPr lang="en" sz="1500">
                <a:latin typeface="Poppins"/>
                <a:ea typeface="Poppins"/>
                <a:cs typeface="Poppins"/>
                <a:sym typeface="Poppins"/>
              </a:rPr>
              <a:t>Now, let's say the toys you get every week start costing more</a:t>
            </a:r>
            <a:endParaRPr sz="1500">
              <a:latin typeface="Poppins"/>
              <a:ea typeface="Poppins"/>
              <a:cs typeface="Poppins"/>
              <a:sym typeface="Poppins"/>
            </a:endParaRPr>
          </a:p>
          <a:p>
            <a:pPr indent="-323850" lvl="0" marL="457200" rtl="0" algn="l">
              <a:spcBef>
                <a:spcPts val="0"/>
              </a:spcBef>
              <a:spcAft>
                <a:spcPts val="0"/>
              </a:spcAft>
              <a:buSzPts val="1500"/>
              <a:buFont typeface="Poppins"/>
              <a:buChar char="●"/>
            </a:pPr>
            <a:r>
              <a:rPr lang="en" sz="1500">
                <a:latin typeface="Poppins"/>
                <a:ea typeface="Poppins"/>
                <a:cs typeface="Poppins"/>
                <a:sym typeface="Poppins"/>
              </a:rPr>
              <a:t>That means you need more money to buy the same amount of toys</a:t>
            </a:r>
            <a:endParaRPr sz="1500">
              <a:latin typeface="Poppins"/>
              <a:ea typeface="Poppins"/>
              <a:cs typeface="Poppins"/>
              <a:sym typeface="Poppins"/>
            </a:endParaRPr>
          </a:p>
          <a:p>
            <a:pPr indent="-323850" lvl="0" marL="457200" rtl="0" algn="l">
              <a:spcBef>
                <a:spcPts val="0"/>
              </a:spcBef>
              <a:spcAft>
                <a:spcPts val="0"/>
              </a:spcAft>
              <a:buSzPts val="1500"/>
              <a:buFont typeface="Poppins"/>
              <a:buChar char="●"/>
            </a:pPr>
            <a:r>
              <a:rPr lang="en" sz="1500">
                <a:latin typeface="Poppins"/>
                <a:ea typeface="Poppins"/>
                <a:cs typeface="Poppins"/>
                <a:sym typeface="Poppins"/>
              </a:rPr>
              <a:t>Inflation is when things get more expensive over time.</a:t>
            </a:r>
            <a:endParaRPr sz="1500">
              <a:latin typeface="Poppins"/>
              <a:ea typeface="Poppins"/>
              <a:cs typeface="Poppins"/>
              <a:sym typeface="Poppins"/>
            </a:endParaRPr>
          </a:p>
          <a:p>
            <a:pPr indent="-323850" lvl="0" marL="457200" rtl="0" algn="l">
              <a:spcBef>
                <a:spcPts val="0"/>
              </a:spcBef>
              <a:spcAft>
                <a:spcPts val="0"/>
              </a:spcAft>
              <a:buSzPts val="1500"/>
              <a:buFont typeface="Poppins"/>
              <a:buChar char="●"/>
            </a:pPr>
            <a:r>
              <a:rPr lang="en" sz="1500">
                <a:latin typeface="Poppins"/>
                <a:ea typeface="Poppins"/>
                <a:cs typeface="Poppins"/>
                <a:sym typeface="Poppins"/>
              </a:rPr>
              <a:t>So, if the toys get pricier, it might be harder for some friends (especially those with fewer toys) to keep up and get what they need.</a:t>
            </a:r>
            <a:endParaRPr sz="1500">
              <a:latin typeface="Poppins"/>
              <a:ea typeface="Poppins"/>
              <a:cs typeface="Poppins"/>
              <a:sym typeface="Poppins"/>
            </a:endParaRPr>
          </a:p>
        </p:txBody>
      </p:sp>
      <p:pic>
        <p:nvPicPr>
          <p:cNvPr id="109" name="Google Shape;109;p19"/>
          <p:cNvPicPr preferRelativeResize="0"/>
          <p:nvPr/>
        </p:nvPicPr>
        <p:blipFill>
          <a:blip r:embed="rId3">
            <a:alphaModFix/>
          </a:blip>
          <a:stretch>
            <a:fillRect/>
          </a:stretch>
        </p:blipFill>
        <p:spPr>
          <a:xfrm>
            <a:off x="6522300" y="3047225"/>
            <a:ext cx="2171700" cy="2037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Poppins"/>
                <a:ea typeface="Poppins"/>
                <a:cs typeface="Poppins"/>
                <a:sym typeface="Poppins"/>
              </a:rPr>
              <a:t>ELI5 Continued (My Specific Paper Topic)</a:t>
            </a:r>
            <a:endParaRPr>
              <a:latin typeface="Poppins"/>
              <a:ea typeface="Poppins"/>
              <a:cs typeface="Poppins"/>
              <a:sym typeface="Poppins"/>
            </a:endParaRPr>
          </a:p>
        </p:txBody>
      </p:sp>
      <p:sp>
        <p:nvSpPr>
          <p:cNvPr id="115" name="Google Shape;115;p2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Poppins"/>
              <a:buChar char="●"/>
            </a:pPr>
            <a:r>
              <a:rPr lang="en" sz="1400">
                <a:latin typeface="Poppins"/>
                <a:ea typeface="Poppins"/>
                <a:cs typeface="Poppins"/>
                <a:sym typeface="Poppins"/>
              </a:rPr>
              <a:t>Imagine you have a friend named Michael Wazowski</a:t>
            </a:r>
            <a:endParaRPr sz="1400">
              <a:latin typeface="Poppins"/>
              <a:ea typeface="Poppins"/>
              <a:cs typeface="Poppins"/>
              <a:sym typeface="Poppins"/>
            </a:endParaRPr>
          </a:p>
          <a:p>
            <a:pPr indent="-317500" lvl="0" marL="457200" rtl="0" algn="l">
              <a:spcBef>
                <a:spcPts val="0"/>
              </a:spcBef>
              <a:spcAft>
                <a:spcPts val="0"/>
              </a:spcAft>
              <a:buSzPts val="1400"/>
              <a:buFont typeface="Poppins"/>
              <a:buChar char="●"/>
            </a:pPr>
            <a:r>
              <a:rPr lang="en" sz="1400">
                <a:latin typeface="Poppins"/>
                <a:ea typeface="Poppins"/>
                <a:cs typeface="Poppins"/>
                <a:sym typeface="Poppins"/>
              </a:rPr>
              <a:t>He has fewer toys and games than some other friends. </a:t>
            </a:r>
            <a:endParaRPr sz="1400">
              <a:latin typeface="Poppins"/>
              <a:ea typeface="Poppins"/>
              <a:cs typeface="Poppins"/>
              <a:sym typeface="Poppins"/>
            </a:endParaRPr>
          </a:p>
          <a:p>
            <a:pPr indent="-317500" lvl="0" marL="457200" rtl="0" algn="l">
              <a:spcBef>
                <a:spcPts val="0"/>
              </a:spcBef>
              <a:spcAft>
                <a:spcPts val="0"/>
              </a:spcAft>
              <a:buSzPts val="1400"/>
              <a:buFont typeface="Poppins"/>
              <a:buChar char="●"/>
            </a:pPr>
            <a:r>
              <a:rPr lang="en" sz="1400">
                <a:latin typeface="Poppins"/>
                <a:ea typeface="Poppins"/>
                <a:cs typeface="Poppins"/>
                <a:sym typeface="Poppins"/>
              </a:rPr>
              <a:t>If the toys become more expensive (inflation), it might be harder for his family to buy them. </a:t>
            </a:r>
            <a:endParaRPr sz="1400">
              <a:latin typeface="Poppins"/>
              <a:ea typeface="Poppins"/>
              <a:cs typeface="Poppins"/>
              <a:sym typeface="Poppins"/>
            </a:endParaRPr>
          </a:p>
          <a:p>
            <a:pPr indent="-317500" lvl="0" marL="457200" rtl="0" algn="l">
              <a:spcBef>
                <a:spcPts val="0"/>
              </a:spcBef>
              <a:spcAft>
                <a:spcPts val="0"/>
              </a:spcAft>
              <a:buSzPts val="1400"/>
              <a:buFont typeface="Poppins"/>
              <a:buChar char="●"/>
            </a:pPr>
            <a:r>
              <a:rPr lang="en" sz="1400">
                <a:latin typeface="Poppins"/>
                <a:ea typeface="Poppins"/>
                <a:cs typeface="Poppins"/>
                <a:sym typeface="Poppins"/>
              </a:rPr>
              <a:t>This could make it even trickier for M.Wazowski to get as many toys as he used to</a:t>
            </a:r>
            <a:endParaRPr sz="1400">
              <a:latin typeface="Poppins"/>
              <a:ea typeface="Poppins"/>
              <a:cs typeface="Poppins"/>
              <a:sym typeface="Poppins"/>
            </a:endParaRPr>
          </a:p>
          <a:p>
            <a:pPr indent="-317500" lvl="0" marL="457200" rtl="0" algn="l">
              <a:spcBef>
                <a:spcPts val="0"/>
              </a:spcBef>
              <a:spcAft>
                <a:spcPts val="0"/>
              </a:spcAft>
              <a:buSzPts val="1400"/>
              <a:buFont typeface="Poppins"/>
              <a:buChar char="●"/>
            </a:pPr>
            <a:r>
              <a:rPr lang="en" sz="1400">
                <a:latin typeface="Poppins"/>
                <a:ea typeface="Poppins"/>
                <a:cs typeface="Poppins"/>
                <a:sym typeface="Poppins"/>
              </a:rPr>
              <a:t>The difference between what he has and what others have might become even bigger (income inequality).</a:t>
            </a:r>
            <a:endParaRPr sz="1400">
              <a:latin typeface="Poppins"/>
              <a:ea typeface="Poppins"/>
              <a:cs typeface="Poppins"/>
              <a:sym typeface="Poppins"/>
            </a:endParaRPr>
          </a:p>
        </p:txBody>
      </p:sp>
      <p:pic>
        <p:nvPicPr>
          <p:cNvPr id="116" name="Google Shape;116;p20"/>
          <p:cNvPicPr preferRelativeResize="0"/>
          <p:nvPr/>
        </p:nvPicPr>
        <p:blipFill>
          <a:blip r:embed="rId3">
            <a:alphaModFix/>
          </a:blip>
          <a:stretch>
            <a:fillRect/>
          </a:stretch>
        </p:blipFill>
        <p:spPr>
          <a:xfrm>
            <a:off x="6069125" y="3465300"/>
            <a:ext cx="2014826" cy="15809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2580">
                <a:latin typeface="Poppins"/>
                <a:ea typeface="Poppins"/>
                <a:cs typeface="Poppins"/>
                <a:sym typeface="Poppins"/>
              </a:rPr>
              <a:t>Background and Research on Inflation and Income Inequality:(Comprehensive Takeaways)</a:t>
            </a:r>
            <a:endParaRPr sz="2580">
              <a:latin typeface="Poppins"/>
              <a:ea typeface="Poppins"/>
              <a:cs typeface="Poppins"/>
              <a:sym typeface="Poppins"/>
            </a:endParaRPr>
          </a:p>
        </p:txBody>
      </p:sp>
      <p:sp>
        <p:nvSpPr>
          <p:cNvPr id="122" name="Google Shape;122;p21"/>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08927" lvl="0" marL="457200" rtl="0" algn="l">
              <a:spcBef>
                <a:spcPts val="0"/>
              </a:spcBef>
              <a:spcAft>
                <a:spcPts val="0"/>
              </a:spcAft>
              <a:buSzPts val="1265"/>
              <a:buFont typeface="Poppins"/>
              <a:buChar char="●"/>
            </a:pPr>
            <a:r>
              <a:rPr lang="en" sz="1265">
                <a:latin typeface="Poppins"/>
                <a:ea typeface="Poppins"/>
                <a:cs typeface="Poppins"/>
                <a:sym typeface="Poppins"/>
              </a:rPr>
              <a:t>In the initial stages, inflation has a reducing effect on income inequality</a:t>
            </a:r>
            <a:endParaRPr sz="1265">
              <a:latin typeface="Poppins"/>
              <a:ea typeface="Poppins"/>
              <a:cs typeface="Poppins"/>
              <a:sym typeface="Poppins"/>
            </a:endParaRPr>
          </a:p>
          <a:p>
            <a:pPr indent="-308927" lvl="0" marL="457200" rtl="0" algn="l">
              <a:spcBef>
                <a:spcPts val="0"/>
              </a:spcBef>
              <a:spcAft>
                <a:spcPts val="0"/>
              </a:spcAft>
              <a:buSzPts val="1265"/>
              <a:buFont typeface="Poppins"/>
              <a:buChar char="●"/>
            </a:pPr>
            <a:r>
              <a:rPr lang="en" sz="1265">
                <a:latin typeface="Poppins"/>
                <a:ea typeface="Poppins"/>
                <a:cs typeface="Poppins"/>
                <a:sym typeface="Poppins"/>
              </a:rPr>
              <a:t>A comprehensive study across the 50 U.S. states from 1976 to 2007 reveals a non-linear relationship between inflation and income inequality, emphasizing the challenges faced by policymakers despite efforts by the Federal Reserve.</a:t>
            </a:r>
            <a:endParaRPr sz="1265">
              <a:latin typeface="Poppins"/>
              <a:ea typeface="Poppins"/>
              <a:cs typeface="Poppins"/>
              <a:sym typeface="Poppins"/>
            </a:endParaRPr>
          </a:p>
          <a:p>
            <a:pPr indent="-308927" lvl="0" marL="457200" rtl="0" algn="l">
              <a:spcBef>
                <a:spcPts val="0"/>
              </a:spcBef>
              <a:spcAft>
                <a:spcPts val="0"/>
              </a:spcAft>
              <a:buSzPts val="1265"/>
              <a:buFont typeface="Poppins"/>
              <a:buChar char="●"/>
            </a:pPr>
            <a:r>
              <a:rPr lang="en" sz="1265">
                <a:latin typeface="Poppins"/>
                <a:ea typeface="Poppins"/>
                <a:cs typeface="Poppins"/>
                <a:sym typeface="Poppins"/>
              </a:rPr>
              <a:t>The trajectory of inflation disparities is not static but evolves over time.</a:t>
            </a:r>
            <a:endParaRPr sz="1265">
              <a:latin typeface="Poppins"/>
              <a:ea typeface="Poppins"/>
              <a:cs typeface="Poppins"/>
              <a:sym typeface="Poppins"/>
            </a:endParaRPr>
          </a:p>
          <a:p>
            <a:pPr indent="-308927" lvl="0" marL="457200" rtl="0" algn="l">
              <a:spcBef>
                <a:spcPts val="0"/>
              </a:spcBef>
              <a:spcAft>
                <a:spcPts val="0"/>
              </a:spcAft>
              <a:buSzPts val="1265"/>
              <a:buFont typeface="Poppins"/>
              <a:buChar char="●"/>
            </a:pPr>
            <a:r>
              <a:rPr lang="en" sz="1265">
                <a:latin typeface="Poppins"/>
                <a:ea typeface="Poppins"/>
                <a:cs typeface="Poppins"/>
                <a:sym typeface="Poppins"/>
              </a:rPr>
              <a:t>Inflation affects households differently based on their expenditure priorities</a:t>
            </a:r>
            <a:endParaRPr sz="1265">
              <a:latin typeface="Poppins"/>
              <a:ea typeface="Poppins"/>
              <a:cs typeface="Poppins"/>
              <a:sym typeface="Poppins"/>
            </a:endParaRPr>
          </a:p>
          <a:p>
            <a:pPr indent="-308927" lvl="0" marL="457200" rtl="0" algn="l">
              <a:spcBef>
                <a:spcPts val="0"/>
              </a:spcBef>
              <a:spcAft>
                <a:spcPts val="0"/>
              </a:spcAft>
              <a:buSzPts val="1265"/>
              <a:buFont typeface="Poppins"/>
              <a:buChar char="●"/>
            </a:pPr>
            <a:r>
              <a:rPr lang="en" sz="1265">
                <a:latin typeface="Poppins"/>
                <a:ea typeface="Poppins"/>
                <a:cs typeface="Poppins"/>
                <a:sym typeface="Poppins"/>
              </a:rPr>
              <a:t>Importance of balancing short-term measures with long-term considerations for maintaining economic stability and reducing inequality</a:t>
            </a:r>
            <a:endParaRPr sz="1265">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Poppins"/>
                <a:ea typeface="Poppins"/>
                <a:cs typeface="Poppins"/>
                <a:sym typeface="Poppins"/>
              </a:rPr>
              <a:t>ELI5 (Comprehensive Takeaways)</a:t>
            </a:r>
            <a:endParaRPr>
              <a:latin typeface="Poppins"/>
              <a:ea typeface="Poppins"/>
              <a:cs typeface="Poppins"/>
              <a:sym typeface="Poppins"/>
            </a:endParaRPr>
          </a:p>
        </p:txBody>
      </p:sp>
      <p:sp>
        <p:nvSpPr>
          <p:cNvPr id="128" name="Google Shape;128;p22"/>
          <p:cNvSpPr txBox="1"/>
          <p:nvPr>
            <p:ph idx="1" type="body"/>
          </p:nvPr>
        </p:nvSpPr>
        <p:spPr>
          <a:xfrm>
            <a:off x="471900" y="1919075"/>
            <a:ext cx="8222100" cy="3102000"/>
          </a:xfrm>
          <a:prstGeom prst="rect">
            <a:avLst/>
          </a:prstGeom>
        </p:spPr>
        <p:txBody>
          <a:bodyPr anchorCtr="0" anchor="t" bIns="91425" lIns="91425" spcFirstLastPara="1" rIns="91425" wrap="square" tIns="91425">
            <a:normAutofit fontScale="77500" lnSpcReduction="20000"/>
          </a:bodyPr>
          <a:lstStyle/>
          <a:p>
            <a:pPr indent="-290467" lvl="0" marL="457200" rtl="0" algn="l">
              <a:spcBef>
                <a:spcPts val="0"/>
              </a:spcBef>
              <a:spcAft>
                <a:spcPts val="0"/>
              </a:spcAft>
              <a:buSzPct val="100000"/>
              <a:buFont typeface="Poppins"/>
              <a:buChar char="●"/>
            </a:pPr>
            <a:r>
              <a:rPr lang="en" sz="1257">
                <a:latin typeface="Poppins"/>
                <a:ea typeface="Poppins"/>
                <a:cs typeface="Poppins"/>
                <a:sym typeface="Poppins"/>
              </a:rPr>
              <a:t>In the initial stages, inflation has a reducing effect on income inequality</a:t>
            </a:r>
            <a:endParaRPr sz="1257">
              <a:latin typeface="Poppins"/>
              <a:ea typeface="Poppins"/>
              <a:cs typeface="Poppins"/>
              <a:sym typeface="Poppins"/>
            </a:endParaRPr>
          </a:p>
          <a:p>
            <a:pPr indent="0" lvl="0" marL="457200" rtl="0" algn="l">
              <a:spcBef>
                <a:spcPts val="1200"/>
              </a:spcBef>
              <a:spcAft>
                <a:spcPts val="0"/>
              </a:spcAft>
              <a:buNone/>
            </a:pPr>
            <a:r>
              <a:rPr lang="en" sz="1257">
                <a:latin typeface="Poppins"/>
                <a:ea typeface="Poppins"/>
                <a:cs typeface="Poppins"/>
                <a:sym typeface="Poppins"/>
              </a:rPr>
              <a:t>Imagine you have ten toys, and your friend has only two. Now, let's say the prices of all toys go up. Since you both have more toys, the difference between you and your friend doesn't feel as big. It's like everyone's toy collection is growing together, and the gap between you and your friend gets smaller at first.</a:t>
            </a:r>
            <a:endParaRPr sz="1257">
              <a:latin typeface="Poppins"/>
              <a:ea typeface="Poppins"/>
              <a:cs typeface="Poppins"/>
              <a:sym typeface="Poppins"/>
            </a:endParaRPr>
          </a:p>
          <a:p>
            <a:pPr indent="-290467" lvl="0" marL="457200" rtl="0" algn="l">
              <a:spcBef>
                <a:spcPts val="1200"/>
              </a:spcBef>
              <a:spcAft>
                <a:spcPts val="0"/>
              </a:spcAft>
              <a:buSzPct val="100000"/>
              <a:buFont typeface="Poppins"/>
              <a:buChar char="●"/>
            </a:pPr>
            <a:r>
              <a:rPr lang="en" sz="1257">
                <a:latin typeface="Poppins"/>
                <a:ea typeface="Poppins"/>
                <a:cs typeface="Poppins"/>
                <a:sym typeface="Poppins"/>
              </a:rPr>
              <a:t>The trajectory of inflation disparities is not static but evolves over time:</a:t>
            </a:r>
            <a:endParaRPr sz="1257">
              <a:latin typeface="Poppins"/>
              <a:ea typeface="Poppins"/>
              <a:cs typeface="Poppins"/>
              <a:sym typeface="Poppins"/>
            </a:endParaRPr>
          </a:p>
          <a:p>
            <a:pPr indent="0" lvl="0" marL="457200" rtl="0" algn="l">
              <a:spcBef>
                <a:spcPts val="1200"/>
              </a:spcBef>
              <a:spcAft>
                <a:spcPts val="0"/>
              </a:spcAft>
              <a:buNone/>
            </a:pPr>
            <a:r>
              <a:rPr lang="en" sz="1257">
                <a:latin typeface="Poppins"/>
                <a:ea typeface="Poppins"/>
                <a:cs typeface="Poppins"/>
                <a:sym typeface="Poppins"/>
              </a:rPr>
              <a:t>Picture a rollercoaster that goes up and down. Inflation, like the rollercoaster, doesn't stay the same all the time. Sometimes it goes up fast, and other times it slows down. So, the way it affects how much things cost and who it helps or hurts can change as time goes by, just like how a rollercoaster changes as it moves.</a:t>
            </a:r>
            <a:endParaRPr sz="1257">
              <a:latin typeface="Poppins"/>
              <a:ea typeface="Poppins"/>
              <a:cs typeface="Poppins"/>
              <a:sym typeface="Poppins"/>
            </a:endParaRPr>
          </a:p>
          <a:p>
            <a:pPr indent="-290467" lvl="0" marL="457200" rtl="0" algn="l">
              <a:spcBef>
                <a:spcPts val="1200"/>
              </a:spcBef>
              <a:spcAft>
                <a:spcPts val="0"/>
              </a:spcAft>
              <a:buSzPct val="100000"/>
              <a:buFont typeface="Poppins"/>
              <a:buChar char="●"/>
            </a:pPr>
            <a:r>
              <a:rPr lang="en" sz="1257">
                <a:latin typeface="Poppins"/>
                <a:ea typeface="Poppins"/>
                <a:cs typeface="Poppins"/>
                <a:sym typeface="Poppins"/>
              </a:rPr>
              <a:t>Inflation affects households differently based on their expenditure priorities:</a:t>
            </a:r>
            <a:endParaRPr sz="1257">
              <a:latin typeface="Poppins"/>
              <a:ea typeface="Poppins"/>
              <a:cs typeface="Poppins"/>
              <a:sym typeface="Poppins"/>
            </a:endParaRPr>
          </a:p>
          <a:p>
            <a:pPr indent="0" lvl="0" marL="457200" rtl="0" algn="l">
              <a:spcBef>
                <a:spcPts val="1200"/>
              </a:spcBef>
              <a:spcAft>
                <a:spcPts val="0"/>
              </a:spcAft>
              <a:buNone/>
            </a:pPr>
            <a:r>
              <a:rPr lang="en" sz="1257">
                <a:latin typeface="Poppins"/>
                <a:ea typeface="Poppins"/>
                <a:cs typeface="Poppins"/>
                <a:sym typeface="Poppins"/>
              </a:rPr>
              <a:t>Think about a family that spends more money on food than on toys. If the prices of food go up a lot, it can make it harder for the family to have enough money for other things. Inflation doesn't affect everyone the same way because some people spend more on certain things, like food or toys, and when the prices change, it can make a big difference for them.</a:t>
            </a:r>
            <a:endParaRPr sz="1257">
              <a:latin typeface="Poppins"/>
              <a:ea typeface="Poppins"/>
              <a:cs typeface="Poppins"/>
              <a:sym typeface="Poppins"/>
            </a:endParaRPr>
          </a:p>
          <a:p>
            <a:pPr indent="0" lvl="0" marL="0" rtl="0" algn="l">
              <a:spcBef>
                <a:spcPts val="1200"/>
              </a:spcBef>
              <a:spcAft>
                <a:spcPts val="1200"/>
              </a:spcAft>
              <a:buNone/>
            </a:pPr>
            <a:r>
              <a:t/>
            </a:r>
            <a:endParaRPr sz="1400">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Poppins"/>
                <a:ea typeface="Poppins"/>
                <a:cs typeface="Poppins"/>
                <a:sym typeface="Poppins"/>
              </a:rPr>
              <a:t>ELI5 (Comprehensive Takeaways Pt.2)</a:t>
            </a:r>
            <a:endParaRPr>
              <a:latin typeface="Poppins"/>
              <a:ea typeface="Poppins"/>
              <a:cs typeface="Poppins"/>
              <a:sym typeface="Poppins"/>
            </a:endParaRPr>
          </a:p>
        </p:txBody>
      </p:sp>
      <p:sp>
        <p:nvSpPr>
          <p:cNvPr id="134" name="Google Shape;134;p23"/>
          <p:cNvSpPr txBox="1"/>
          <p:nvPr>
            <p:ph idx="1" type="body"/>
          </p:nvPr>
        </p:nvSpPr>
        <p:spPr>
          <a:xfrm>
            <a:off x="471900" y="1919075"/>
            <a:ext cx="7872300" cy="2683800"/>
          </a:xfrm>
          <a:prstGeom prst="rect">
            <a:avLst/>
          </a:prstGeom>
        </p:spPr>
        <p:txBody>
          <a:bodyPr anchorCtr="0" anchor="t" bIns="91425" lIns="91425" spcFirstLastPara="1" rIns="91425" wrap="square" tIns="91425">
            <a:normAutofit lnSpcReduction="10000"/>
          </a:bodyPr>
          <a:lstStyle/>
          <a:p>
            <a:pPr indent="-300037" lvl="0" marL="457200" rtl="0" algn="l">
              <a:lnSpc>
                <a:spcPct val="95000"/>
              </a:lnSpc>
              <a:spcBef>
                <a:spcPts val="0"/>
              </a:spcBef>
              <a:spcAft>
                <a:spcPts val="0"/>
              </a:spcAft>
              <a:buSzPts val="1125"/>
              <a:buFont typeface="Poppins"/>
              <a:buChar char="●"/>
            </a:pPr>
            <a:r>
              <a:rPr lang="en" sz="1125">
                <a:latin typeface="Poppins"/>
                <a:ea typeface="Poppins"/>
                <a:cs typeface="Poppins"/>
                <a:sym typeface="Poppins"/>
              </a:rPr>
              <a:t>Importance of balancing short-term measures with long-term considerations for maintaining economic stability and reducing inequality:</a:t>
            </a:r>
            <a:endParaRPr sz="1125">
              <a:latin typeface="Poppins"/>
              <a:ea typeface="Poppins"/>
              <a:cs typeface="Poppins"/>
              <a:sym typeface="Poppins"/>
            </a:endParaRPr>
          </a:p>
          <a:p>
            <a:pPr indent="0" lvl="0" marL="0" rtl="0" algn="l">
              <a:lnSpc>
                <a:spcPct val="95000"/>
              </a:lnSpc>
              <a:spcBef>
                <a:spcPts val="1200"/>
              </a:spcBef>
              <a:spcAft>
                <a:spcPts val="0"/>
              </a:spcAft>
              <a:buSzPts val="688"/>
              <a:buNone/>
            </a:pPr>
            <a:r>
              <a:rPr lang="en" sz="1125">
                <a:latin typeface="Poppins"/>
                <a:ea typeface="Poppins"/>
                <a:cs typeface="Poppins"/>
                <a:sym typeface="Poppins"/>
              </a:rPr>
              <a:t>Imagine you are building a tower with blocks. If you only focus on making the tower really tall right now, it might fall over because it's not stable. Balancing means making sure the tower is not only tall but also strong and won't fall easily. The people in charge of the country need to think about what helps everyone now and what will keep things good for a long time, like building a tower that lasts.</a:t>
            </a:r>
            <a:endParaRPr sz="1125">
              <a:latin typeface="Poppins"/>
              <a:ea typeface="Poppins"/>
              <a:cs typeface="Poppins"/>
              <a:sym typeface="Poppins"/>
            </a:endParaRPr>
          </a:p>
          <a:p>
            <a:pPr indent="-300037" lvl="0" marL="457200" rtl="0" algn="l">
              <a:lnSpc>
                <a:spcPct val="95000"/>
              </a:lnSpc>
              <a:spcBef>
                <a:spcPts val="1200"/>
              </a:spcBef>
              <a:spcAft>
                <a:spcPts val="0"/>
              </a:spcAft>
              <a:buSzPts val="1125"/>
              <a:buFont typeface="Poppins"/>
              <a:buChar char="●"/>
            </a:pPr>
            <a:r>
              <a:rPr lang="en" sz="1125">
                <a:latin typeface="Poppins"/>
                <a:ea typeface="Poppins"/>
                <a:cs typeface="Poppins"/>
                <a:sym typeface="Poppins"/>
              </a:rPr>
              <a:t>A comprehensive study across the 50 U.S. states from 1976 to 2007 reveals a non-linear relationship between inflation and income inequality, emphasizing the challenges faced by policymakers despite efforts by the Federal Reserve:</a:t>
            </a:r>
            <a:endParaRPr sz="1125">
              <a:latin typeface="Poppins"/>
              <a:ea typeface="Poppins"/>
              <a:cs typeface="Poppins"/>
              <a:sym typeface="Poppins"/>
            </a:endParaRPr>
          </a:p>
          <a:p>
            <a:pPr indent="0" lvl="0" marL="457200" rtl="0" algn="l">
              <a:lnSpc>
                <a:spcPct val="95000"/>
              </a:lnSpc>
              <a:spcBef>
                <a:spcPts val="1200"/>
              </a:spcBef>
              <a:spcAft>
                <a:spcPts val="1200"/>
              </a:spcAft>
              <a:buSzPts val="688"/>
              <a:buNone/>
            </a:pPr>
            <a:r>
              <a:rPr lang="en" sz="1125">
                <a:latin typeface="Poppins"/>
                <a:ea typeface="Poppins"/>
                <a:cs typeface="Poppins"/>
                <a:sym typeface="Poppins"/>
              </a:rPr>
              <a:t>Think of the U.S. as a giant Rubik's Cube with 50 different sections, each representing a state. Now, when you try to solve the Rubik's Cube, turning one side doesn't always fix everything. Sometimes, it makes other parts more mixed up! Similarly, when policymakers try to fix how much money people have (that's the income) by dealing with inflation (which is like turning the cube), it doesn't always make things fair for everyone.</a:t>
            </a:r>
            <a:endParaRPr sz="1125">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Poppins"/>
                <a:ea typeface="Poppins"/>
                <a:cs typeface="Poppins"/>
                <a:sym typeface="Poppins"/>
              </a:rPr>
              <a:t>Policy and Strategy Analysis</a:t>
            </a:r>
            <a:endParaRPr>
              <a:latin typeface="Poppins"/>
              <a:ea typeface="Poppins"/>
              <a:cs typeface="Poppins"/>
              <a:sym typeface="Poppins"/>
            </a:endParaRPr>
          </a:p>
        </p:txBody>
      </p:sp>
      <p:sp>
        <p:nvSpPr>
          <p:cNvPr id="140" name="Google Shape;140;p24"/>
          <p:cNvSpPr txBox="1"/>
          <p:nvPr>
            <p:ph idx="1" type="body"/>
          </p:nvPr>
        </p:nvSpPr>
        <p:spPr>
          <a:xfrm>
            <a:off x="471900" y="1705425"/>
            <a:ext cx="8222100" cy="33933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
                <a:latin typeface="Poppins"/>
                <a:ea typeface="Poppins"/>
                <a:cs typeface="Poppins"/>
                <a:sym typeface="Poppins"/>
              </a:rPr>
              <a:t>Key policy considerations related to inflation and income inequality?</a:t>
            </a:r>
            <a:endParaRPr>
              <a:latin typeface="Poppins"/>
              <a:ea typeface="Poppins"/>
              <a:cs typeface="Poppins"/>
              <a:sym typeface="Poppins"/>
            </a:endParaRPr>
          </a:p>
          <a:p>
            <a:pPr indent="0" lvl="0" marL="0" rtl="0" algn="l">
              <a:spcBef>
                <a:spcPts val="1200"/>
              </a:spcBef>
              <a:spcAft>
                <a:spcPts val="0"/>
              </a:spcAft>
              <a:buNone/>
            </a:pPr>
            <a:r>
              <a:rPr lang="en">
                <a:latin typeface="Poppins"/>
                <a:ea typeface="Poppins"/>
                <a:cs typeface="Poppins"/>
                <a:sym typeface="Poppins"/>
              </a:rPr>
              <a:t>So what do we know…..</a:t>
            </a:r>
            <a:endParaRPr>
              <a:latin typeface="Poppins"/>
              <a:ea typeface="Poppins"/>
              <a:cs typeface="Poppins"/>
              <a:sym typeface="Poppins"/>
            </a:endParaRPr>
          </a:p>
          <a:p>
            <a:pPr indent="-291465" lvl="0" marL="457200" rtl="0" algn="l">
              <a:spcBef>
                <a:spcPts val="1200"/>
              </a:spcBef>
              <a:spcAft>
                <a:spcPts val="0"/>
              </a:spcAft>
              <a:buSzPct val="100000"/>
              <a:buFont typeface="Poppins"/>
              <a:buChar char="●"/>
            </a:pPr>
            <a:r>
              <a:rPr lang="en">
                <a:latin typeface="Poppins"/>
                <a:ea typeface="Poppins"/>
                <a:cs typeface="Poppins"/>
                <a:sym typeface="Poppins"/>
              </a:rPr>
              <a:t>Monetary Policy</a:t>
            </a:r>
            <a:endParaRPr>
              <a:latin typeface="Poppins"/>
              <a:ea typeface="Poppins"/>
              <a:cs typeface="Poppins"/>
              <a:sym typeface="Poppins"/>
            </a:endParaRPr>
          </a:p>
          <a:p>
            <a:pPr indent="0" lvl="0" marL="0" rtl="0" algn="l">
              <a:spcBef>
                <a:spcPts val="1200"/>
              </a:spcBef>
              <a:spcAft>
                <a:spcPts val="0"/>
              </a:spcAft>
              <a:buNone/>
            </a:pPr>
            <a:r>
              <a:rPr lang="en">
                <a:latin typeface="Poppins"/>
                <a:ea typeface="Poppins"/>
                <a:cs typeface="Poppins"/>
                <a:sym typeface="Poppins"/>
              </a:rPr>
              <a:t>Interest Rates: Central banks use interest rates to manage inflation.</a:t>
            </a:r>
            <a:endParaRPr>
              <a:latin typeface="Poppins"/>
              <a:ea typeface="Poppins"/>
              <a:cs typeface="Poppins"/>
              <a:sym typeface="Poppins"/>
            </a:endParaRPr>
          </a:p>
          <a:p>
            <a:pPr indent="0" lvl="0" marL="0" rtl="0" algn="l">
              <a:spcBef>
                <a:spcPts val="1200"/>
              </a:spcBef>
              <a:spcAft>
                <a:spcPts val="0"/>
              </a:spcAft>
              <a:buNone/>
            </a:pPr>
            <a:r>
              <a:rPr lang="en">
                <a:latin typeface="Poppins"/>
                <a:ea typeface="Poppins"/>
                <a:cs typeface="Poppins"/>
                <a:sym typeface="Poppins"/>
              </a:rPr>
              <a:t>Impact on Income: The effectiveness of this approach varies for different income groups.</a:t>
            </a:r>
            <a:endParaRPr>
              <a:latin typeface="Poppins"/>
              <a:ea typeface="Poppins"/>
              <a:cs typeface="Poppins"/>
              <a:sym typeface="Poppins"/>
            </a:endParaRPr>
          </a:p>
          <a:p>
            <a:pPr indent="-291465" lvl="0" marL="457200" rtl="0" algn="l">
              <a:spcBef>
                <a:spcPts val="1200"/>
              </a:spcBef>
              <a:spcAft>
                <a:spcPts val="0"/>
              </a:spcAft>
              <a:buSzPct val="100000"/>
              <a:buFont typeface="Poppins"/>
              <a:buChar char="●"/>
            </a:pPr>
            <a:r>
              <a:rPr lang="en">
                <a:latin typeface="Poppins"/>
                <a:ea typeface="Poppins"/>
                <a:cs typeface="Poppins"/>
                <a:sym typeface="Poppins"/>
              </a:rPr>
              <a:t>Fiscal Policy</a:t>
            </a:r>
            <a:endParaRPr>
              <a:latin typeface="Poppins"/>
              <a:ea typeface="Poppins"/>
              <a:cs typeface="Poppins"/>
              <a:sym typeface="Poppins"/>
            </a:endParaRPr>
          </a:p>
          <a:p>
            <a:pPr indent="0" lvl="0" marL="0" rtl="0" algn="l">
              <a:spcBef>
                <a:spcPts val="1200"/>
              </a:spcBef>
              <a:spcAft>
                <a:spcPts val="0"/>
              </a:spcAft>
              <a:buNone/>
            </a:pPr>
            <a:r>
              <a:rPr lang="en">
                <a:latin typeface="Poppins"/>
                <a:ea typeface="Poppins"/>
                <a:cs typeface="Poppins"/>
                <a:sym typeface="Poppins"/>
              </a:rPr>
              <a:t>Government Spending: Policies involving taxes and public sector employment directly influence income distribution.</a:t>
            </a:r>
            <a:endParaRPr>
              <a:latin typeface="Poppins"/>
              <a:ea typeface="Poppins"/>
              <a:cs typeface="Poppins"/>
              <a:sym typeface="Poppins"/>
            </a:endParaRPr>
          </a:p>
          <a:p>
            <a:pPr indent="0" lvl="0" marL="0" rtl="0" algn="l">
              <a:spcBef>
                <a:spcPts val="1200"/>
              </a:spcBef>
              <a:spcAft>
                <a:spcPts val="0"/>
              </a:spcAft>
              <a:buNone/>
            </a:pPr>
            <a:r>
              <a:rPr lang="en">
                <a:latin typeface="Poppins"/>
                <a:ea typeface="Poppins"/>
                <a:cs typeface="Poppins"/>
                <a:sym typeface="Poppins"/>
              </a:rPr>
              <a:t>Redistributive Effects: Crafting fiscal policies considering redistributive effects can target specific income groups.</a:t>
            </a:r>
            <a:endParaRPr>
              <a:latin typeface="Poppins"/>
              <a:ea typeface="Poppins"/>
              <a:cs typeface="Poppins"/>
              <a:sym typeface="Poppins"/>
            </a:endParaRPr>
          </a:p>
          <a:p>
            <a:pPr indent="-291465" lvl="0" marL="457200" rtl="0" algn="l">
              <a:spcBef>
                <a:spcPts val="1200"/>
              </a:spcBef>
              <a:spcAft>
                <a:spcPts val="0"/>
              </a:spcAft>
              <a:buSzPct val="100000"/>
              <a:buFont typeface="Poppins"/>
              <a:buChar char="●"/>
            </a:pPr>
            <a:r>
              <a:rPr lang="en">
                <a:latin typeface="Poppins"/>
                <a:ea typeface="Poppins"/>
                <a:cs typeface="Poppins"/>
                <a:sym typeface="Poppins"/>
              </a:rPr>
              <a:t>Inflation's Impact on Real Wages</a:t>
            </a:r>
            <a:endParaRPr>
              <a:latin typeface="Poppins"/>
              <a:ea typeface="Poppins"/>
              <a:cs typeface="Poppins"/>
              <a:sym typeface="Poppins"/>
            </a:endParaRPr>
          </a:p>
          <a:p>
            <a:pPr indent="0" lvl="0" marL="0" rtl="0" algn="l">
              <a:spcBef>
                <a:spcPts val="1200"/>
              </a:spcBef>
              <a:spcAft>
                <a:spcPts val="0"/>
              </a:spcAft>
              <a:buNone/>
            </a:pPr>
            <a:r>
              <a:rPr lang="en">
                <a:latin typeface="Poppins"/>
                <a:ea typeface="Poppins"/>
                <a:cs typeface="Poppins"/>
                <a:sym typeface="Poppins"/>
              </a:rPr>
              <a:t>Nominal vs. Real Wages: During inflation, nominal wages may not keep up with rising prices, affecting real purchasing power.</a:t>
            </a:r>
            <a:endParaRPr>
              <a:latin typeface="Poppins"/>
              <a:ea typeface="Poppins"/>
              <a:cs typeface="Poppins"/>
              <a:sym typeface="Poppins"/>
            </a:endParaRPr>
          </a:p>
          <a:p>
            <a:pPr indent="0" lvl="0" marL="0" rtl="0" algn="l">
              <a:spcBef>
                <a:spcPts val="1200"/>
              </a:spcBef>
              <a:spcAft>
                <a:spcPts val="1200"/>
              </a:spcAft>
              <a:buNone/>
            </a:pPr>
            <a:r>
              <a:rPr lang="en">
                <a:latin typeface="Poppins"/>
                <a:ea typeface="Poppins"/>
                <a:cs typeface="Poppins"/>
                <a:sym typeface="Poppins"/>
              </a:rPr>
              <a:t>Disproportionate Effects: Lower-income individuals, heavily reliant on wage income, are more vulnerable.</a:t>
            </a:r>
            <a:endParaRPr>
              <a:latin typeface="Poppins"/>
              <a:ea typeface="Poppins"/>
              <a:cs typeface="Poppins"/>
              <a:sym typeface="Poppins"/>
            </a:endParaRPr>
          </a:p>
        </p:txBody>
      </p:sp>
      <p:pic>
        <p:nvPicPr>
          <p:cNvPr id="141" name="Google Shape;141;p24"/>
          <p:cNvPicPr preferRelativeResize="0"/>
          <p:nvPr/>
        </p:nvPicPr>
        <p:blipFill>
          <a:blip r:embed="rId3">
            <a:alphaModFix/>
          </a:blip>
          <a:stretch>
            <a:fillRect/>
          </a:stretch>
        </p:blipFill>
        <p:spPr>
          <a:xfrm>
            <a:off x="6759871" y="1705425"/>
            <a:ext cx="2384128" cy="1795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Poppins"/>
                <a:ea typeface="Poppins"/>
                <a:cs typeface="Poppins"/>
                <a:sym typeface="Poppins"/>
              </a:rPr>
              <a:t>Policy and Strategy Analysis</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(Pt.2)</a:t>
            </a:r>
            <a:endParaRPr>
              <a:latin typeface="Poppins"/>
              <a:ea typeface="Poppins"/>
              <a:cs typeface="Poppins"/>
              <a:sym typeface="Poppins"/>
            </a:endParaRPr>
          </a:p>
        </p:txBody>
      </p:sp>
      <p:sp>
        <p:nvSpPr>
          <p:cNvPr id="147" name="Google Shape;147;p2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latin typeface="Poppins"/>
                <a:ea typeface="Poppins"/>
                <a:cs typeface="Poppins"/>
                <a:sym typeface="Poppins"/>
              </a:rPr>
              <a:t>So in an ideal world how would one address this issue…..?</a:t>
            </a:r>
            <a:endParaRPr sz="1100">
              <a:latin typeface="Poppins"/>
              <a:ea typeface="Poppins"/>
              <a:cs typeface="Poppins"/>
              <a:sym typeface="Poppins"/>
            </a:endParaRPr>
          </a:p>
          <a:p>
            <a:pPr indent="-298450" lvl="0" marL="457200" rtl="0" algn="l">
              <a:spcBef>
                <a:spcPts val="1200"/>
              </a:spcBef>
              <a:spcAft>
                <a:spcPts val="0"/>
              </a:spcAft>
              <a:buSzPts val="1100"/>
              <a:buFont typeface="Poppins"/>
              <a:buChar char="●"/>
            </a:pPr>
            <a:r>
              <a:rPr lang="en" sz="1100">
                <a:latin typeface="Poppins"/>
                <a:ea typeface="Poppins"/>
                <a:cs typeface="Poppins"/>
                <a:sym typeface="Poppins"/>
              </a:rPr>
              <a:t>Monetary Policy Adjustments: Influence on various income sources, especially for lower-income individuals.</a:t>
            </a:r>
            <a:endParaRPr sz="1100">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sz="1100">
                <a:latin typeface="Poppins"/>
                <a:ea typeface="Poppins"/>
                <a:cs typeface="Poppins"/>
                <a:sym typeface="Poppins"/>
              </a:rPr>
              <a:t>Fiscal Policy Measures: Tax policies, public sector employment, and government spending as direct levers for income distribution.</a:t>
            </a:r>
            <a:endParaRPr sz="1100">
              <a:latin typeface="Poppins"/>
              <a:ea typeface="Poppins"/>
              <a:cs typeface="Poppins"/>
              <a:sym typeface="Poppins"/>
            </a:endParaRPr>
          </a:p>
          <a:p>
            <a:pPr indent="-298450" lvl="0" marL="457200" rtl="0" algn="l">
              <a:spcBef>
                <a:spcPts val="0"/>
              </a:spcBef>
              <a:spcAft>
                <a:spcPts val="0"/>
              </a:spcAft>
              <a:buSzPts val="1100"/>
              <a:buFont typeface="Poppins"/>
              <a:buChar char="●"/>
            </a:pPr>
            <a:r>
              <a:rPr lang="en" sz="1100">
                <a:latin typeface="Poppins"/>
                <a:ea typeface="Poppins"/>
                <a:cs typeface="Poppins"/>
                <a:sym typeface="Poppins"/>
              </a:rPr>
              <a:t>Social Safety Nets: Strengthening programs like welfare and unemployment benefits as a buffer during inflationary periods.</a:t>
            </a:r>
            <a:endParaRPr sz="1100">
              <a:latin typeface="Poppins"/>
              <a:ea typeface="Poppins"/>
              <a:cs typeface="Poppins"/>
              <a:sym typeface="Poppins"/>
            </a:endParaRPr>
          </a:p>
        </p:txBody>
      </p:sp>
      <p:pic>
        <p:nvPicPr>
          <p:cNvPr id="148" name="Google Shape;148;p25"/>
          <p:cNvPicPr preferRelativeResize="0"/>
          <p:nvPr/>
        </p:nvPicPr>
        <p:blipFill rotWithShape="1">
          <a:blip r:embed="rId3">
            <a:alphaModFix/>
          </a:blip>
          <a:srcRect b="0" l="33940" r="33946" t="7859"/>
          <a:stretch/>
        </p:blipFill>
        <p:spPr>
          <a:xfrm>
            <a:off x="7235926" y="3183350"/>
            <a:ext cx="1847402" cy="1960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Examples From Other Countries:(Inspiration For Policy)</a:t>
            </a:r>
            <a:endParaRPr/>
          </a:p>
        </p:txBody>
      </p:sp>
      <p:sp>
        <p:nvSpPr>
          <p:cNvPr id="154" name="Google Shape;154;p2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852"/>
              <a:buNone/>
            </a:pPr>
            <a:r>
              <a:rPr lang="en" sz="1295">
                <a:latin typeface="Poppins"/>
                <a:ea typeface="Poppins"/>
                <a:cs typeface="Poppins"/>
                <a:sym typeface="Poppins"/>
              </a:rPr>
              <a:t>Look no further than Brazil for an example on how to beat inflation!</a:t>
            </a:r>
            <a:endParaRPr sz="1295">
              <a:latin typeface="Poppins"/>
              <a:ea typeface="Poppins"/>
              <a:cs typeface="Poppins"/>
              <a:sym typeface="Poppins"/>
            </a:endParaRPr>
          </a:p>
          <a:p>
            <a:pPr indent="-310832" lvl="0" marL="457200" rtl="0" algn="l">
              <a:lnSpc>
                <a:spcPct val="95000"/>
              </a:lnSpc>
              <a:spcBef>
                <a:spcPts val="1200"/>
              </a:spcBef>
              <a:spcAft>
                <a:spcPts val="0"/>
              </a:spcAft>
              <a:buSzPts val="1295"/>
              <a:buFont typeface="Poppins"/>
              <a:buChar char="●"/>
            </a:pPr>
            <a:r>
              <a:rPr lang="en" sz="1295">
                <a:latin typeface="Poppins"/>
                <a:ea typeface="Poppins"/>
                <a:cs typeface="Poppins"/>
                <a:sym typeface="Poppins"/>
              </a:rPr>
              <a:t>B</a:t>
            </a:r>
            <a:r>
              <a:rPr lang="en" sz="1295">
                <a:latin typeface="Poppins"/>
                <a:ea typeface="Poppins"/>
                <a:cs typeface="Poppins"/>
                <a:sym typeface="Poppins"/>
              </a:rPr>
              <a:t>razil successfully combated hyperinflation through a clever economic strategy involving the introduction of a transitional currency called the Unidade Real de Valor (URV). This "fake" currency acted as a stabilizing force by providing a stable reference point for prices during a period of rampant inflation. Prices were displayed in URV, allowing people to become accustomed to stable prices, mitigating the psychological impact of inflation. After a predetermined transition period, Brazil smoothly transitioned to a new currency, the United Dollar (UD). This strategic approach helped create an environment of stability, predictability, and equality in the face of hyperinflation, showcasing the effectiveness of innovative economic interventions in times of economic turmoil.</a:t>
            </a:r>
            <a:endParaRPr sz="1295">
              <a:latin typeface="Poppins"/>
              <a:ea typeface="Poppins"/>
              <a:cs typeface="Poppins"/>
              <a:sym typeface="Poppins"/>
            </a:endParaRPr>
          </a:p>
        </p:txBody>
      </p:sp>
      <p:pic>
        <p:nvPicPr>
          <p:cNvPr descr="Brazil went from having an inflation of 2477% to having a stable currency in the span of about a year. This was accomplished using the Real Plan which is what this video is about.&#10;&#10;Sources:&#10;https://www.economist.com/americas-view/2014/07/03/the-echoes-of-1994&#10;https://www.npr.org/sections/money/2015/12/02/458222801/episode-216-how-four-drinking-buddies-saved-brazil?t=1617774929328&#10;&#10;#economics #brazil" id="155" name="Google Shape;155;p26" title="How Brazil Solved Inflation">
            <a:hlinkClick r:id="rId3"/>
          </p:cNvPr>
          <p:cNvPicPr preferRelativeResize="0"/>
          <p:nvPr/>
        </p:nvPicPr>
        <p:blipFill>
          <a:blip r:embed="rId4">
            <a:alphaModFix/>
          </a:blip>
          <a:stretch>
            <a:fillRect/>
          </a:stretch>
        </p:blipFill>
        <p:spPr>
          <a:xfrm>
            <a:off x="6776975" y="4200375"/>
            <a:ext cx="1676675" cy="943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My Specific Policy</a:t>
            </a:r>
            <a:endParaRPr/>
          </a:p>
        </p:txBody>
      </p:sp>
      <p:sp>
        <p:nvSpPr>
          <p:cNvPr id="161" name="Google Shape;161;p27"/>
          <p:cNvSpPr txBox="1"/>
          <p:nvPr>
            <p:ph idx="1" type="body"/>
          </p:nvPr>
        </p:nvSpPr>
        <p:spPr>
          <a:xfrm>
            <a:off x="460950" y="1705425"/>
            <a:ext cx="7317600" cy="3364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050">
                <a:latin typeface="Poppins"/>
                <a:ea typeface="Poppins"/>
                <a:cs typeface="Poppins"/>
                <a:sym typeface="Poppins"/>
              </a:rPr>
              <a:t>Comprehensive Economic Policy Measures:</a:t>
            </a:r>
            <a:endParaRPr sz="1050">
              <a:latin typeface="Poppins"/>
              <a:ea typeface="Poppins"/>
              <a:cs typeface="Poppins"/>
              <a:sym typeface="Poppins"/>
            </a:endParaRPr>
          </a:p>
          <a:p>
            <a:pPr indent="-295275" lvl="0" marL="457200" rtl="0" algn="l">
              <a:lnSpc>
                <a:spcPct val="95000"/>
              </a:lnSpc>
              <a:spcBef>
                <a:spcPts val="1200"/>
              </a:spcBef>
              <a:spcAft>
                <a:spcPts val="0"/>
              </a:spcAft>
              <a:buSzPts val="1050"/>
              <a:buFont typeface="Poppins"/>
              <a:buAutoNum type="arabicPeriod"/>
            </a:pPr>
            <a:r>
              <a:rPr lang="en" sz="1050">
                <a:latin typeface="Poppins"/>
                <a:ea typeface="Poppins"/>
                <a:cs typeface="Poppins"/>
                <a:sym typeface="Poppins"/>
              </a:rPr>
              <a:t>Government Spending Reform:</a:t>
            </a:r>
            <a:endParaRPr sz="1050">
              <a:latin typeface="Poppins"/>
              <a:ea typeface="Poppins"/>
              <a:cs typeface="Poppins"/>
              <a:sym typeface="Poppins"/>
            </a:endParaRPr>
          </a:p>
          <a:p>
            <a:pPr indent="0" lvl="0" marL="457200" rtl="0" algn="l">
              <a:lnSpc>
                <a:spcPct val="95000"/>
              </a:lnSpc>
              <a:spcBef>
                <a:spcPts val="1200"/>
              </a:spcBef>
              <a:spcAft>
                <a:spcPts val="0"/>
              </a:spcAft>
              <a:buNone/>
            </a:pPr>
            <a:r>
              <a:rPr lang="en" sz="1050">
                <a:latin typeface="Poppins"/>
                <a:ea typeface="Poppins"/>
                <a:cs typeface="Poppins"/>
                <a:sym typeface="Poppins"/>
              </a:rPr>
              <a:t>Disciplined</a:t>
            </a:r>
            <a:r>
              <a:rPr lang="en" sz="1050">
                <a:latin typeface="Poppins"/>
                <a:ea typeface="Poppins"/>
                <a:cs typeface="Poppins"/>
                <a:sym typeface="Poppins"/>
              </a:rPr>
              <a:t> and targeted cuts for efficient resource allocation.</a:t>
            </a:r>
            <a:endParaRPr sz="1050">
              <a:latin typeface="Poppins"/>
              <a:ea typeface="Poppins"/>
              <a:cs typeface="Poppins"/>
              <a:sym typeface="Poppins"/>
            </a:endParaRPr>
          </a:p>
          <a:p>
            <a:pPr indent="-295275" lvl="0" marL="457200" rtl="0" algn="l">
              <a:lnSpc>
                <a:spcPct val="95000"/>
              </a:lnSpc>
              <a:spcBef>
                <a:spcPts val="1200"/>
              </a:spcBef>
              <a:spcAft>
                <a:spcPts val="0"/>
              </a:spcAft>
              <a:buSzPts val="1050"/>
              <a:buFont typeface="Poppins"/>
              <a:buAutoNum type="arabicPeriod"/>
            </a:pPr>
            <a:r>
              <a:rPr lang="en" sz="1050">
                <a:latin typeface="Poppins"/>
                <a:ea typeface="Poppins"/>
                <a:cs typeface="Poppins"/>
                <a:sym typeface="Poppins"/>
              </a:rPr>
              <a:t>Monetary Policy Adjustments:</a:t>
            </a:r>
            <a:endParaRPr sz="1050">
              <a:latin typeface="Poppins"/>
              <a:ea typeface="Poppins"/>
              <a:cs typeface="Poppins"/>
              <a:sym typeface="Poppins"/>
            </a:endParaRPr>
          </a:p>
          <a:p>
            <a:pPr indent="0" lvl="0" marL="457200" rtl="0" algn="l">
              <a:lnSpc>
                <a:spcPct val="95000"/>
              </a:lnSpc>
              <a:spcBef>
                <a:spcPts val="1200"/>
              </a:spcBef>
              <a:spcAft>
                <a:spcPts val="0"/>
              </a:spcAft>
              <a:buNone/>
            </a:pPr>
            <a:r>
              <a:rPr lang="en" sz="1050">
                <a:latin typeface="Poppins"/>
                <a:ea typeface="Poppins"/>
                <a:cs typeface="Poppins"/>
                <a:sym typeface="Poppins"/>
              </a:rPr>
              <a:t>Strategic use of tools, including interest rate adjustments.</a:t>
            </a:r>
            <a:endParaRPr sz="1050">
              <a:latin typeface="Poppins"/>
              <a:ea typeface="Poppins"/>
              <a:cs typeface="Poppins"/>
              <a:sym typeface="Poppins"/>
            </a:endParaRPr>
          </a:p>
          <a:p>
            <a:pPr indent="0" lvl="0" marL="0" rtl="0" algn="l">
              <a:lnSpc>
                <a:spcPct val="95000"/>
              </a:lnSpc>
              <a:spcBef>
                <a:spcPts val="1200"/>
              </a:spcBef>
              <a:spcAft>
                <a:spcPts val="0"/>
              </a:spcAft>
              <a:buNone/>
            </a:pPr>
            <a:r>
              <a:rPr lang="en" sz="1050">
                <a:latin typeface="Poppins"/>
                <a:ea typeface="Poppins"/>
                <a:cs typeface="Poppins"/>
                <a:sym typeface="Poppins"/>
              </a:rPr>
              <a:t>Innovative Psychological Intervention - URV-inspired Transition:</a:t>
            </a:r>
            <a:endParaRPr sz="1050">
              <a:latin typeface="Poppins"/>
              <a:ea typeface="Poppins"/>
              <a:cs typeface="Poppins"/>
              <a:sym typeface="Poppins"/>
            </a:endParaRPr>
          </a:p>
          <a:p>
            <a:pPr indent="-295275" lvl="0" marL="457200" rtl="0" algn="l">
              <a:lnSpc>
                <a:spcPct val="95000"/>
              </a:lnSpc>
              <a:spcBef>
                <a:spcPts val="1200"/>
              </a:spcBef>
              <a:spcAft>
                <a:spcPts val="0"/>
              </a:spcAft>
              <a:buSzPts val="1050"/>
              <a:buFont typeface="Poppins"/>
              <a:buAutoNum type="arabicPeriod"/>
            </a:pPr>
            <a:r>
              <a:rPr lang="en" sz="1050">
                <a:latin typeface="Poppins"/>
                <a:ea typeface="Poppins"/>
                <a:cs typeface="Poppins"/>
                <a:sym typeface="Poppins"/>
              </a:rPr>
              <a:t>Introduction of Stability Units (SU):</a:t>
            </a:r>
            <a:endParaRPr sz="1050">
              <a:latin typeface="Poppins"/>
              <a:ea typeface="Poppins"/>
              <a:cs typeface="Poppins"/>
              <a:sym typeface="Poppins"/>
            </a:endParaRPr>
          </a:p>
          <a:p>
            <a:pPr indent="0" lvl="0" marL="0" rtl="0" algn="l">
              <a:lnSpc>
                <a:spcPct val="95000"/>
              </a:lnSpc>
              <a:spcBef>
                <a:spcPts val="1200"/>
              </a:spcBef>
              <a:spcAft>
                <a:spcPts val="0"/>
              </a:spcAft>
              <a:buNone/>
            </a:pPr>
            <a:r>
              <a:rPr lang="en" sz="1050">
                <a:latin typeface="Poppins"/>
                <a:ea typeface="Poppins"/>
                <a:cs typeface="Poppins"/>
                <a:sym typeface="Poppins"/>
              </a:rPr>
              <a:t>Symbolic currency for public transactions.</a:t>
            </a:r>
            <a:endParaRPr sz="1050">
              <a:latin typeface="Poppins"/>
              <a:ea typeface="Poppins"/>
              <a:cs typeface="Poppins"/>
              <a:sym typeface="Poppins"/>
            </a:endParaRPr>
          </a:p>
          <a:p>
            <a:pPr indent="-295275" lvl="0" marL="457200" rtl="0" algn="l">
              <a:lnSpc>
                <a:spcPct val="100000"/>
              </a:lnSpc>
              <a:spcBef>
                <a:spcPts val="1200"/>
              </a:spcBef>
              <a:spcAft>
                <a:spcPts val="0"/>
              </a:spcAft>
              <a:buSzPts val="1050"/>
              <a:buFont typeface="Poppins"/>
              <a:buAutoNum type="arabicPeriod"/>
            </a:pPr>
            <a:r>
              <a:rPr lang="en" sz="1050">
                <a:latin typeface="Poppins"/>
                <a:ea typeface="Poppins"/>
                <a:cs typeface="Poppins"/>
                <a:sym typeface="Poppins"/>
              </a:rPr>
              <a:t>Normalization of Pricing in SU: </a:t>
            </a:r>
            <a:endParaRPr sz="1050">
              <a:latin typeface="Poppins"/>
              <a:ea typeface="Poppins"/>
              <a:cs typeface="Poppins"/>
              <a:sym typeface="Poppins"/>
            </a:endParaRPr>
          </a:p>
          <a:p>
            <a:pPr indent="0" lvl="0" marL="0" rtl="0" algn="l">
              <a:lnSpc>
                <a:spcPct val="100000"/>
              </a:lnSpc>
              <a:spcBef>
                <a:spcPts val="0"/>
              </a:spcBef>
              <a:spcAft>
                <a:spcPts val="0"/>
              </a:spcAft>
              <a:buNone/>
            </a:pPr>
            <a:r>
              <a:rPr lang="en" sz="1050">
                <a:latin typeface="Poppins"/>
                <a:ea typeface="Poppins"/>
                <a:cs typeface="Poppins"/>
                <a:sym typeface="Poppins"/>
              </a:rPr>
              <a:t>Stable prices during a predetermined transition period.</a:t>
            </a:r>
            <a:endParaRPr sz="1050">
              <a:latin typeface="Poppins"/>
              <a:ea typeface="Poppins"/>
              <a:cs typeface="Poppins"/>
              <a:sym typeface="Poppins"/>
            </a:endParaRPr>
          </a:p>
          <a:p>
            <a:pPr indent="0" lvl="0" marL="0" rtl="0" algn="l">
              <a:lnSpc>
                <a:spcPct val="100000"/>
              </a:lnSpc>
              <a:spcBef>
                <a:spcPts val="0"/>
              </a:spcBef>
              <a:spcAft>
                <a:spcPts val="0"/>
              </a:spcAft>
              <a:buNone/>
            </a:pPr>
            <a:r>
              <a:t/>
            </a:r>
            <a:endParaRPr sz="1050">
              <a:latin typeface="Poppins"/>
              <a:ea typeface="Poppins"/>
              <a:cs typeface="Poppins"/>
              <a:sym typeface="Poppins"/>
            </a:endParaRPr>
          </a:p>
          <a:p>
            <a:pPr indent="-295275" lvl="0" marL="457200" rtl="0" algn="l">
              <a:lnSpc>
                <a:spcPct val="100000"/>
              </a:lnSpc>
              <a:spcBef>
                <a:spcPts val="0"/>
              </a:spcBef>
              <a:spcAft>
                <a:spcPts val="0"/>
              </a:spcAft>
              <a:buSzPts val="1050"/>
              <a:buFont typeface="Poppins"/>
              <a:buAutoNum type="arabicPeriod"/>
            </a:pPr>
            <a:r>
              <a:rPr lang="en" sz="1050">
                <a:latin typeface="Poppins"/>
                <a:ea typeface="Poppins"/>
                <a:cs typeface="Poppins"/>
                <a:sym typeface="Poppins"/>
              </a:rPr>
              <a:t>Seamless Transition to a New Currency - "United Dollar (UD)":</a:t>
            </a:r>
            <a:endParaRPr sz="1050">
              <a:latin typeface="Poppins"/>
              <a:ea typeface="Poppins"/>
              <a:cs typeface="Poppins"/>
              <a:sym typeface="Poppins"/>
            </a:endParaRPr>
          </a:p>
          <a:p>
            <a:pPr indent="0" lvl="0" marL="0" rtl="0" algn="l">
              <a:lnSpc>
                <a:spcPct val="100000"/>
              </a:lnSpc>
              <a:spcBef>
                <a:spcPts val="0"/>
              </a:spcBef>
              <a:spcAft>
                <a:spcPts val="0"/>
              </a:spcAft>
              <a:buNone/>
            </a:pPr>
            <a:r>
              <a:rPr lang="en" sz="1050">
                <a:latin typeface="Poppins"/>
                <a:ea typeface="Poppins"/>
                <a:cs typeface="Poppins"/>
                <a:sym typeface="Poppins"/>
              </a:rPr>
              <a:t> Execution on a designated day for a clear understanding of the new currency's value.</a:t>
            </a:r>
            <a:endParaRPr sz="1050">
              <a:latin typeface="Poppins"/>
              <a:ea typeface="Poppins"/>
              <a:cs typeface="Poppins"/>
              <a:sym typeface="Poppins"/>
            </a:endParaRPr>
          </a:p>
          <a:p>
            <a:pPr indent="0" lvl="0" marL="0" rtl="0" algn="l">
              <a:lnSpc>
                <a:spcPct val="95000"/>
              </a:lnSpc>
              <a:spcBef>
                <a:spcPts val="0"/>
              </a:spcBef>
              <a:spcAft>
                <a:spcPts val="1200"/>
              </a:spcAft>
              <a:buSzPts val="275"/>
              <a:buNone/>
            </a:pPr>
            <a:r>
              <a:t/>
            </a:r>
            <a:endParaRPr sz="1050">
              <a:latin typeface="Poppins"/>
              <a:ea typeface="Poppins"/>
              <a:cs typeface="Poppins"/>
              <a:sym typeface="Poppins"/>
            </a:endParaRPr>
          </a:p>
        </p:txBody>
      </p:sp>
      <p:pic>
        <p:nvPicPr>
          <p:cNvPr id="162" name="Google Shape;162;p27"/>
          <p:cNvPicPr preferRelativeResize="0"/>
          <p:nvPr/>
        </p:nvPicPr>
        <p:blipFill>
          <a:blip r:embed="rId3">
            <a:alphaModFix/>
          </a:blip>
          <a:stretch>
            <a:fillRect/>
          </a:stretch>
        </p:blipFill>
        <p:spPr>
          <a:xfrm>
            <a:off x="6601550" y="3820175"/>
            <a:ext cx="2542450" cy="1323325"/>
          </a:xfrm>
          <a:prstGeom prst="rect">
            <a:avLst/>
          </a:prstGeom>
          <a:noFill/>
          <a:ln>
            <a:noFill/>
          </a:ln>
        </p:spPr>
      </p:pic>
      <p:pic>
        <p:nvPicPr>
          <p:cNvPr id="163" name="Google Shape;163;p27"/>
          <p:cNvPicPr preferRelativeResize="0"/>
          <p:nvPr/>
        </p:nvPicPr>
        <p:blipFill rotWithShape="1">
          <a:blip r:embed="rId4">
            <a:alphaModFix/>
          </a:blip>
          <a:srcRect b="32537" l="18982" r="-1839" t="0"/>
          <a:stretch/>
        </p:blipFill>
        <p:spPr>
          <a:xfrm>
            <a:off x="6601550" y="1647075"/>
            <a:ext cx="2608126" cy="2242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Conclusion:Impact of Inflation on Income Inequality</a:t>
            </a:r>
            <a:endParaRPr/>
          </a:p>
        </p:txBody>
      </p:sp>
      <p:sp>
        <p:nvSpPr>
          <p:cNvPr id="169" name="Google Shape;169;p28"/>
          <p:cNvSpPr txBox="1"/>
          <p:nvPr>
            <p:ph idx="1" type="body"/>
          </p:nvPr>
        </p:nvSpPr>
        <p:spPr>
          <a:xfrm>
            <a:off x="460950" y="1656775"/>
            <a:ext cx="8222100" cy="28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52"/>
              <a:buNone/>
            </a:pPr>
            <a:r>
              <a:t/>
            </a:r>
            <a:endParaRPr sz="1095">
              <a:latin typeface="Poppins"/>
              <a:ea typeface="Poppins"/>
              <a:cs typeface="Poppins"/>
              <a:sym typeface="Poppins"/>
            </a:endParaRPr>
          </a:p>
          <a:p>
            <a:pPr indent="-298132" lvl="0" marL="457200" rtl="0" algn="l">
              <a:spcBef>
                <a:spcPts val="1200"/>
              </a:spcBef>
              <a:spcAft>
                <a:spcPts val="0"/>
              </a:spcAft>
              <a:buSzPts val="1095"/>
              <a:buFont typeface="Poppins"/>
              <a:buChar char="●"/>
            </a:pPr>
            <a:r>
              <a:rPr lang="en" sz="1095">
                <a:latin typeface="Poppins"/>
                <a:ea typeface="Poppins"/>
                <a:cs typeface="Poppins"/>
                <a:sym typeface="Poppins"/>
              </a:rPr>
              <a:t>Wealth Gap Widening: Inflation widens the wealth gap, hitting vulnerable groups harder.</a:t>
            </a:r>
            <a:endParaRPr sz="1095">
              <a:latin typeface="Poppins"/>
              <a:ea typeface="Poppins"/>
              <a:cs typeface="Poppins"/>
              <a:sym typeface="Poppins"/>
            </a:endParaRPr>
          </a:p>
          <a:p>
            <a:pPr indent="-298132" lvl="0" marL="457200" rtl="0" algn="l">
              <a:spcBef>
                <a:spcPts val="0"/>
              </a:spcBef>
              <a:spcAft>
                <a:spcPts val="0"/>
              </a:spcAft>
              <a:buSzPts val="1095"/>
              <a:buFont typeface="Poppins"/>
              <a:buChar char="●"/>
            </a:pPr>
            <a:r>
              <a:rPr lang="en" sz="1095">
                <a:latin typeface="Poppins"/>
                <a:ea typeface="Poppins"/>
                <a:cs typeface="Poppins"/>
                <a:sym typeface="Poppins"/>
              </a:rPr>
              <a:t>Differential Impacts: Different racial and income groups experience diverse effects.</a:t>
            </a:r>
            <a:endParaRPr sz="1095">
              <a:latin typeface="Poppins"/>
              <a:ea typeface="Poppins"/>
              <a:cs typeface="Poppins"/>
              <a:sym typeface="Poppins"/>
            </a:endParaRPr>
          </a:p>
          <a:p>
            <a:pPr indent="-298132" lvl="0" marL="457200" rtl="0" algn="l">
              <a:spcBef>
                <a:spcPts val="0"/>
              </a:spcBef>
              <a:spcAft>
                <a:spcPts val="0"/>
              </a:spcAft>
              <a:buSzPts val="1095"/>
              <a:buFont typeface="Poppins"/>
              <a:buChar char="●"/>
            </a:pPr>
            <a:r>
              <a:rPr lang="en" sz="1095">
                <a:latin typeface="Poppins"/>
                <a:ea typeface="Poppins"/>
                <a:cs typeface="Poppins"/>
                <a:sym typeface="Poppins"/>
              </a:rPr>
              <a:t>Need for Safety Nets: Robust social safety nets are crucial for inclusive policies.</a:t>
            </a:r>
            <a:endParaRPr sz="1095">
              <a:latin typeface="Poppins"/>
              <a:ea typeface="Poppins"/>
              <a:cs typeface="Poppins"/>
              <a:sym typeface="Poppins"/>
            </a:endParaRPr>
          </a:p>
          <a:p>
            <a:pPr indent="-298132" lvl="0" marL="457200" rtl="0" algn="l">
              <a:spcBef>
                <a:spcPts val="0"/>
              </a:spcBef>
              <a:spcAft>
                <a:spcPts val="0"/>
              </a:spcAft>
              <a:buSzPts val="1095"/>
              <a:buFont typeface="Poppins"/>
              <a:buChar char="●"/>
            </a:pPr>
            <a:r>
              <a:rPr lang="en" sz="1095">
                <a:latin typeface="Poppins"/>
                <a:ea typeface="Poppins"/>
                <a:cs typeface="Poppins"/>
                <a:sym typeface="Poppins"/>
              </a:rPr>
              <a:t>Global Awareness: The issue demands international cooperation for global stability.</a:t>
            </a:r>
            <a:endParaRPr sz="1095">
              <a:latin typeface="Poppins"/>
              <a:ea typeface="Poppins"/>
              <a:cs typeface="Poppins"/>
              <a:sym typeface="Poppins"/>
            </a:endParaRPr>
          </a:p>
          <a:p>
            <a:pPr indent="-298132" lvl="0" marL="457200" rtl="0" algn="l">
              <a:spcBef>
                <a:spcPts val="0"/>
              </a:spcBef>
              <a:spcAft>
                <a:spcPts val="0"/>
              </a:spcAft>
              <a:buSzPts val="1095"/>
              <a:buFont typeface="Poppins"/>
              <a:buChar char="●"/>
            </a:pPr>
            <a:r>
              <a:rPr lang="en" sz="1095">
                <a:latin typeface="Poppins"/>
                <a:ea typeface="Poppins"/>
                <a:cs typeface="Poppins"/>
                <a:sym typeface="Poppins"/>
              </a:rPr>
              <a:t>Long-Term Focus: Understanding evolving inflation dynamics guides effective, adaptive policies.</a:t>
            </a:r>
            <a:endParaRPr sz="1095">
              <a:latin typeface="Poppins"/>
              <a:ea typeface="Poppins"/>
              <a:cs typeface="Poppins"/>
              <a:sym typeface="Poppins"/>
            </a:endParaRPr>
          </a:p>
          <a:p>
            <a:pPr indent="-298132" lvl="0" marL="457200" rtl="0" algn="l">
              <a:spcBef>
                <a:spcPts val="0"/>
              </a:spcBef>
              <a:spcAft>
                <a:spcPts val="0"/>
              </a:spcAft>
              <a:buSzPts val="1095"/>
              <a:buFont typeface="Poppins"/>
              <a:buChar char="●"/>
            </a:pPr>
            <a:r>
              <a:rPr lang="en" sz="1095">
                <a:latin typeface="Poppins"/>
                <a:ea typeface="Poppins"/>
                <a:cs typeface="Poppins"/>
                <a:sym typeface="Poppins"/>
              </a:rPr>
              <a:t>Call for Collective Action: Addressing inflation-induced income inequality is a shared responsibility for a fairer economic landscape.</a:t>
            </a:r>
            <a:endParaRPr sz="1095">
              <a:latin typeface="Poppins"/>
              <a:ea typeface="Poppins"/>
              <a:cs typeface="Poppins"/>
              <a:sym typeface="Poppins"/>
            </a:endParaRPr>
          </a:p>
        </p:txBody>
      </p:sp>
      <p:pic>
        <p:nvPicPr>
          <p:cNvPr id="170" name="Google Shape;170;p28"/>
          <p:cNvPicPr preferRelativeResize="0"/>
          <p:nvPr/>
        </p:nvPicPr>
        <p:blipFill>
          <a:blip r:embed="rId3">
            <a:alphaModFix/>
          </a:blip>
          <a:stretch>
            <a:fillRect/>
          </a:stretch>
        </p:blipFill>
        <p:spPr>
          <a:xfrm>
            <a:off x="5956400" y="3301938"/>
            <a:ext cx="2533650" cy="1800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