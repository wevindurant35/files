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9144000"/>
  <p:embeddedFontLst>
    <p:embeddedFont>
      <p:font typeface="Work Sans ExtraBold"/>
      <p:bold r:id="rId13"/>
      <p:boldItalic r:id="rId14"/>
    </p:embeddedFont>
    <p:embeddedFont>
      <p:font typeface="Work Sans SemiBold"/>
      <p:regular r:id="rId15"/>
      <p:bold r:id="rId16"/>
      <p:italic r:id="rId17"/>
      <p:boldItalic r:id="rId18"/>
    </p:embeddedFont>
    <p:embeddedFont>
      <p:font typeface="Open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bold.fntdata"/><Relationship Id="rId11" Type="http://schemas.openxmlformats.org/officeDocument/2006/relationships/slide" Target="slides/slide6.xml"/><Relationship Id="rId22" Type="http://schemas.openxmlformats.org/officeDocument/2006/relationships/font" Target="fonts/OpenSans-boldItalic.fntdata"/><Relationship Id="rId10" Type="http://schemas.openxmlformats.org/officeDocument/2006/relationships/slide" Target="slides/slide5.xml"/><Relationship Id="rId21" Type="http://schemas.openxmlformats.org/officeDocument/2006/relationships/font" Target="fonts/OpenSans-italic.fntdata"/><Relationship Id="rId13" Type="http://schemas.openxmlformats.org/officeDocument/2006/relationships/font" Target="fonts/WorkSansExtraBold-bold.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WorkSansSemiBold-regular.fntdata"/><Relationship Id="rId14" Type="http://schemas.openxmlformats.org/officeDocument/2006/relationships/font" Target="fonts/WorkSansExtraBold-boldItalic.fntdata"/><Relationship Id="rId17" Type="http://schemas.openxmlformats.org/officeDocument/2006/relationships/font" Target="fonts/WorkSansSemiBold-italic.fntdata"/><Relationship Id="rId16" Type="http://schemas.openxmlformats.org/officeDocument/2006/relationships/font" Target="fonts/WorkSansSemiBold-bold.fntdata"/><Relationship Id="rId5" Type="http://schemas.openxmlformats.org/officeDocument/2006/relationships/notesMaster" Target="notesMasters/notesMaster1.xml"/><Relationship Id="rId19" Type="http://schemas.openxmlformats.org/officeDocument/2006/relationships/font" Target="fonts/OpenSans-regular.fntdata"/><Relationship Id="rId6" Type="http://schemas.openxmlformats.org/officeDocument/2006/relationships/slide" Target="slides/slide1.xml"/><Relationship Id="rId18" Type="http://schemas.openxmlformats.org/officeDocument/2006/relationships/font" Target="fonts/WorkSansSemiBold-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cf73d1dde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2cf73d1dde3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9" name="Shape 99"/>
        <p:cNvGrpSpPr/>
        <p:nvPr/>
      </p:nvGrpSpPr>
      <p:grpSpPr>
        <a:xfrm>
          <a:off x="0" y="0"/>
          <a:ext cx="0" cy="0"/>
          <a:chOff x="0" y="0"/>
          <a:chExt cx="0" cy="0"/>
        </a:xfrm>
      </p:grpSpPr>
      <p:sp>
        <p:nvSpPr>
          <p:cNvPr id="100" name="Google Shape;100;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1" name="Google Shape;101;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02" name="Google Shape;102;p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3" name="Google Shape;103;p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4" name="Google Shape;104;p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7" name="Google Shape;10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8" name="Google Shape;10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9" name="Shape 109"/>
        <p:cNvGrpSpPr/>
        <p:nvPr/>
      </p:nvGrpSpPr>
      <p:grpSpPr>
        <a:xfrm>
          <a:off x="0" y="0"/>
          <a:ext cx="0" cy="0"/>
          <a:chOff x="0" y="0"/>
          <a:chExt cx="0" cy="0"/>
        </a:xfrm>
      </p:grpSpPr>
      <p:sp>
        <p:nvSpPr>
          <p:cNvPr id="110" name="Google Shape;110;p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1" name="Google Shape;111;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2" name="Google Shape;11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3" name="Google Shape;11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4" name="Google Shape;11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5" name="Shape 115"/>
        <p:cNvGrpSpPr/>
        <p:nvPr/>
      </p:nvGrpSpPr>
      <p:grpSpPr>
        <a:xfrm>
          <a:off x="0" y="0"/>
          <a:ext cx="0" cy="0"/>
          <a:chOff x="0" y="0"/>
          <a:chExt cx="0" cy="0"/>
        </a:xfrm>
      </p:grpSpPr>
      <p:sp>
        <p:nvSpPr>
          <p:cNvPr id="116" name="Google Shape;116;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7" name="Google Shape;117;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8" name="Google Shape;118;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9" name="Google Shape;119;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0" name="Google Shape;120;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1" name="Shape 121"/>
        <p:cNvGrpSpPr/>
        <p:nvPr/>
      </p:nvGrpSpPr>
      <p:grpSpPr>
        <a:xfrm>
          <a:off x="0" y="0"/>
          <a:ext cx="0" cy="0"/>
          <a:chOff x="0" y="0"/>
          <a:chExt cx="0" cy="0"/>
        </a:xfrm>
      </p:grpSpPr>
      <p:sp>
        <p:nvSpPr>
          <p:cNvPr id="122" name="Google Shape;122;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3" name="Google Shape;123;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5" name="Google Shape;125;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6" name="Google Shape;126;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7" name="Google Shape;127;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8" name="Shape 128"/>
        <p:cNvGrpSpPr/>
        <p:nvPr/>
      </p:nvGrpSpPr>
      <p:grpSpPr>
        <a:xfrm>
          <a:off x="0" y="0"/>
          <a:ext cx="0" cy="0"/>
          <a:chOff x="0" y="0"/>
          <a:chExt cx="0" cy="0"/>
        </a:xfrm>
      </p:grpSpPr>
      <p:sp>
        <p:nvSpPr>
          <p:cNvPr id="129" name="Google Shape;129;p7"/>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0" name="Google Shape;130;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31" name="Google Shape;131;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2" name="Google Shape;132;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33" name="Google Shape;133;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4" name="Google Shape;134;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5" name="Google Shape;135;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6" name="Google Shape;136;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7" name="Shape 137"/>
        <p:cNvGrpSpPr/>
        <p:nvPr/>
      </p:nvGrpSpPr>
      <p:grpSpPr>
        <a:xfrm>
          <a:off x="0" y="0"/>
          <a:ext cx="0" cy="0"/>
          <a:chOff x="0" y="0"/>
          <a:chExt cx="0" cy="0"/>
        </a:xfrm>
      </p:grpSpPr>
      <p:sp>
        <p:nvSpPr>
          <p:cNvPr id="138" name="Google Shape;138;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9" name="Google Shape;139;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0" name="Google Shape;140;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1" name="Google Shape;141;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2" name="Shape 142"/>
        <p:cNvGrpSpPr/>
        <p:nvPr/>
      </p:nvGrpSpPr>
      <p:grpSpPr>
        <a:xfrm>
          <a:off x="0" y="0"/>
          <a:ext cx="0" cy="0"/>
          <a:chOff x="0" y="0"/>
          <a:chExt cx="0" cy="0"/>
        </a:xfrm>
      </p:grpSpPr>
      <p:sp>
        <p:nvSpPr>
          <p:cNvPr id="143" name="Google Shape;143;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4" name="Google Shape;144;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5" name="Google Shape;145;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6" name="Google Shape;146;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7" name="Google Shape;147;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8" name="Google Shape;148;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9" name="Shape 149"/>
        <p:cNvGrpSpPr/>
        <p:nvPr/>
      </p:nvGrpSpPr>
      <p:grpSpPr>
        <a:xfrm>
          <a:off x="0" y="0"/>
          <a:ext cx="0" cy="0"/>
          <a:chOff x="0" y="0"/>
          <a:chExt cx="0" cy="0"/>
        </a:xfrm>
      </p:grpSpPr>
      <p:sp>
        <p:nvSpPr>
          <p:cNvPr id="150" name="Google Shape;150;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1" name="Google Shape;151;p10"/>
          <p:cNvSpPr/>
          <p:nvPr>
            <p:ph idx="2" type="pic"/>
          </p:nvPr>
        </p:nvSpPr>
        <p:spPr>
          <a:xfrm>
            <a:off x="5183188" y="987425"/>
            <a:ext cx="6172200" cy="4873625"/>
          </a:xfrm>
          <a:prstGeom prst="rect">
            <a:avLst/>
          </a:prstGeom>
          <a:noFill/>
          <a:ln>
            <a:noFill/>
          </a:ln>
        </p:spPr>
      </p:sp>
      <p:sp>
        <p:nvSpPr>
          <p:cNvPr id="152" name="Google Shape;152;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53" name="Google Shape;153;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4" name="Google Shape;154;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5" name="Google Shape;155;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6" name="Shape 156"/>
        <p:cNvGrpSpPr/>
        <p:nvPr/>
      </p:nvGrpSpPr>
      <p:grpSpPr>
        <a:xfrm>
          <a:off x="0" y="0"/>
          <a:ext cx="0" cy="0"/>
          <a:chOff x="0" y="0"/>
          <a:chExt cx="0" cy="0"/>
        </a:xfrm>
      </p:grpSpPr>
      <p:sp>
        <p:nvSpPr>
          <p:cNvPr id="157" name="Google Shape;157;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8" name="Google Shape;158;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9" name="Google Shape;159;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0" name="Google Shape;160;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2" name="Shape 162"/>
        <p:cNvGrpSpPr/>
        <p:nvPr/>
      </p:nvGrpSpPr>
      <p:grpSpPr>
        <a:xfrm>
          <a:off x="0" y="0"/>
          <a:ext cx="0" cy="0"/>
          <a:chOff x="0" y="0"/>
          <a:chExt cx="0" cy="0"/>
        </a:xfrm>
      </p:grpSpPr>
      <p:sp>
        <p:nvSpPr>
          <p:cNvPr id="163" name="Google Shape;163;p12"/>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4" name="Google Shape;164;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5" name="Google Shape;165;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6" name="Google Shape;166;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7" name="Google Shape;167;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67C1"/>
            </a:gs>
            <a:gs pos="36000">
              <a:srgbClr val="0180CC"/>
            </a:gs>
            <a:gs pos="86000">
              <a:srgbClr val="0E4684"/>
            </a:gs>
            <a:gs pos="100000">
              <a:srgbClr val="0E4684"/>
            </a:gs>
          </a:gsLst>
          <a:lin ang="5400000" scaled="0"/>
        </a:gradFill>
      </p:bgPr>
    </p:bg>
    <p:spTree>
      <p:nvGrpSpPr>
        <p:cNvPr id="5" name="Shape 5"/>
        <p:cNvGrpSpPr/>
        <p:nvPr/>
      </p:nvGrpSpPr>
      <p:grpSpPr>
        <a:xfrm>
          <a:off x="0" y="0"/>
          <a:ext cx="0" cy="0"/>
          <a:chOff x="0" y="0"/>
          <a:chExt cx="0" cy="0"/>
        </a:xfrm>
      </p:grpSpPr>
      <p:grpSp>
        <p:nvGrpSpPr>
          <p:cNvPr id="6" name="Google Shape;6;p1"/>
          <p:cNvGrpSpPr/>
          <p:nvPr/>
        </p:nvGrpSpPr>
        <p:grpSpPr>
          <a:xfrm>
            <a:off x="198122" y="-26266"/>
            <a:ext cx="11829932" cy="6819391"/>
            <a:chOff x="198122" y="-26266"/>
            <a:chExt cx="11829932" cy="6819391"/>
          </a:xfrm>
        </p:grpSpPr>
        <p:grpSp>
          <p:nvGrpSpPr>
            <p:cNvPr id="7" name="Google Shape;7;p1"/>
            <p:cNvGrpSpPr/>
            <p:nvPr/>
          </p:nvGrpSpPr>
          <p:grpSpPr>
            <a:xfrm>
              <a:off x="9089159" y="-26266"/>
              <a:ext cx="2813050" cy="1995191"/>
              <a:chOff x="9089159" y="-26266"/>
              <a:chExt cx="2813050" cy="1995191"/>
            </a:xfrm>
          </p:grpSpPr>
          <p:sp>
            <p:nvSpPr>
              <p:cNvPr id="8" name="Google Shape;8;p1"/>
              <p:cNvSpPr/>
              <p:nvPr/>
            </p:nvSpPr>
            <p:spPr>
              <a:xfrm>
                <a:off x="9772650" y="704850"/>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 name="Google Shape;9;p1"/>
              <p:cNvSpPr/>
              <p:nvPr/>
            </p:nvSpPr>
            <p:spPr>
              <a:xfrm>
                <a:off x="9089159" y="704850"/>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 name="Google Shape;10;p1"/>
              <p:cNvSpPr/>
              <p:nvPr/>
            </p:nvSpPr>
            <p:spPr>
              <a:xfrm>
                <a:off x="9523268" y="353868"/>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 name="Google Shape;11;p1"/>
              <p:cNvSpPr/>
              <p:nvPr/>
            </p:nvSpPr>
            <p:spPr>
              <a:xfrm>
                <a:off x="10566977" y="307686"/>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 name="Google Shape;12;p1"/>
              <p:cNvSpPr/>
              <p:nvPr/>
            </p:nvSpPr>
            <p:spPr>
              <a:xfrm>
                <a:off x="10954905" y="-26266"/>
                <a:ext cx="146339" cy="146339"/>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 name="Google Shape;13;p1"/>
              <p:cNvSpPr/>
              <p:nvPr/>
            </p:nvSpPr>
            <p:spPr>
              <a:xfrm>
                <a:off x="11646477" y="1310986"/>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 name="Google Shape;14;p1"/>
              <p:cNvSpPr/>
              <p:nvPr/>
            </p:nvSpPr>
            <p:spPr>
              <a:xfrm>
                <a:off x="11483109" y="1805557"/>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 name="Google Shape;15;p1"/>
              <p:cNvSpPr/>
              <p:nvPr/>
            </p:nvSpPr>
            <p:spPr>
              <a:xfrm>
                <a:off x="10757189" y="1062470"/>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grpSp>
          <p:nvGrpSpPr>
            <p:cNvPr id="16" name="Google Shape;16;p1"/>
            <p:cNvGrpSpPr/>
            <p:nvPr/>
          </p:nvGrpSpPr>
          <p:grpSpPr>
            <a:xfrm flipH="1" rot="10800000">
              <a:off x="9215004" y="4797934"/>
              <a:ext cx="2813050" cy="1995191"/>
              <a:chOff x="9089159" y="4499993"/>
              <a:chExt cx="2813050" cy="1995191"/>
            </a:xfrm>
          </p:grpSpPr>
          <p:sp>
            <p:nvSpPr>
              <p:cNvPr id="17" name="Google Shape;17;p1"/>
              <p:cNvSpPr/>
              <p:nvPr/>
            </p:nvSpPr>
            <p:spPr>
              <a:xfrm>
                <a:off x="9772650" y="5231109"/>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 name="Google Shape;18;p1"/>
              <p:cNvSpPr/>
              <p:nvPr/>
            </p:nvSpPr>
            <p:spPr>
              <a:xfrm>
                <a:off x="9089159" y="5231109"/>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 name="Google Shape;19;p1"/>
              <p:cNvSpPr/>
              <p:nvPr/>
            </p:nvSpPr>
            <p:spPr>
              <a:xfrm>
                <a:off x="9523268" y="4880127"/>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 name="Google Shape;20;p1"/>
              <p:cNvSpPr/>
              <p:nvPr/>
            </p:nvSpPr>
            <p:spPr>
              <a:xfrm>
                <a:off x="10566977" y="4833945"/>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 name="Google Shape;21;p1"/>
              <p:cNvSpPr/>
              <p:nvPr/>
            </p:nvSpPr>
            <p:spPr>
              <a:xfrm>
                <a:off x="10954905" y="4499993"/>
                <a:ext cx="146339" cy="146339"/>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 name="Google Shape;22;p1"/>
              <p:cNvSpPr/>
              <p:nvPr/>
            </p:nvSpPr>
            <p:spPr>
              <a:xfrm>
                <a:off x="11646477" y="5837245"/>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 name="Google Shape;23;p1"/>
              <p:cNvSpPr/>
              <p:nvPr/>
            </p:nvSpPr>
            <p:spPr>
              <a:xfrm>
                <a:off x="11483109" y="6331816"/>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 name="Google Shape;24;p1"/>
              <p:cNvSpPr/>
              <p:nvPr/>
            </p:nvSpPr>
            <p:spPr>
              <a:xfrm>
                <a:off x="10757189" y="5588729"/>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25" name="Google Shape;25;p1"/>
            <p:cNvSpPr/>
            <p:nvPr/>
          </p:nvSpPr>
          <p:spPr>
            <a:xfrm flipH="1">
              <a:off x="2071949" y="704850"/>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 name="Google Shape;26;p1"/>
            <p:cNvSpPr/>
            <p:nvPr/>
          </p:nvSpPr>
          <p:spPr>
            <a:xfrm flipH="1">
              <a:off x="2847804" y="704850"/>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 name="Google Shape;27;p1"/>
            <p:cNvSpPr/>
            <p:nvPr/>
          </p:nvSpPr>
          <p:spPr>
            <a:xfrm flipH="1">
              <a:off x="2413695" y="353868"/>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 name="Google Shape;28;p1"/>
            <p:cNvSpPr/>
            <p:nvPr/>
          </p:nvSpPr>
          <p:spPr>
            <a:xfrm flipH="1">
              <a:off x="1277622" y="307686"/>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 name="Google Shape;29;p1"/>
            <p:cNvSpPr/>
            <p:nvPr/>
          </p:nvSpPr>
          <p:spPr>
            <a:xfrm flipH="1">
              <a:off x="999087" y="-26266"/>
              <a:ext cx="146339" cy="146339"/>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 name="Google Shape;30;p1"/>
            <p:cNvSpPr/>
            <p:nvPr/>
          </p:nvSpPr>
          <p:spPr>
            <a:xfrm rot="10800000">
              <a:off x="2197794" y="5806277"/>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 name="Google Shape;31;p1"/>
            <p:cNvSpPr/>
            <p:nvPr/>
          </p:nvSpPr>
          <p:spPr>
            <a:xfrm rot="10800000">
              <a:off x="2973649" y="5898641"/>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 name="Google Shape;32;p1"/>
            <p:cNvSpPr/>
            <p:nvPr/>
          </p:nvSpPr>
          <p:spPr>
            <a:xfrm rot="10800000">
              <a:off x="2539540" y="6249623"/>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 name="Google Shape;33;p1"/>
            <p:cNvSpPr/>
            <p:nvPr/>
          </p:nvSpPr>
          <p:spPr>
            <a:xfrm rot="10800000">
              <a:off x="1403467" y="6203441"/>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 name="Google Shape;34;p1"/>
            <p:cNvSpPr/>
            <p:nvPr/>
          </p:nvSpPr>
          <p:spPr>
            <a:xfrm rot="10800000">
              <a:off x="1124932" y="6646786"/>
              <a:ext cx="146339" cy="146339"/>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 name="Google Shape;35;p1"/>
            <p:cNvSpPr/>
            <p:nvPr/>
          </p:nvSpPr>
          <p:spPr>
            <a:xfrm rot="10800000">
              <a:off x="323967" y="5200141"/>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 name="Google Shape;36;p1"/>
            <p:cNvSpPr/>
            <p:nvPr/>
          </p:nvSpPr>
          <p:spPr>
            <a:xfrm rot="10800000">
              <a:off x="1213255" y="5448657"/>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 name="Google Shape;37;p1"/>
            <p:cNvSpPr/>
            <p:nvPr/>
          </p:nvSpPr>
          <p:spPr>
            <a:xfrm rot="10800000">
              <a:off x="579699" y="4797934"/>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 name="Google Shape;38;p1"/>
            <p:cNvSpPr/>
            <p:nvPr/>
          </p:nvSpPr>
          <p:spPr>
            <a:xfrm rot="10800000">
              <a:off x="1331714" y="4566008"/>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 name="Google Shape;39;p1"/>
            <p:cNvSpPr/>
            <p:nvPr/>
          </p:nvSpPr>
          <p:spPr>
            <a:xfrm flipH="1">
              <a:off x="198122" y="1310986"/>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 name="Google Shape;40;p1"/>
            <p:cNvSpPr/>
            <p:nvPr/>
          </p:nvSpPr>
          <p:spPr>
            <a:xfrm flipH="1">
              <a:off x="453854" y="1805557"/>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 name="Google Shape;41;p1"/>
            <p:cNvSpPr/>
            <p:nvPr/>
          </p:nvSpPr>
          <p:spPr>
            <a:xfrm flipH="1">
              <a:off x="1087410" y="1062470"/>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 name="Google Shape;42;p1"/>
            <p:cNvSpPr/>
            <p:nvPr/>
          </p:nvSpPr>
          <p:spPr>
            <a:xfrm rot="10800000">
              <a:off x="989968" y="4122662"/>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 name="Google Shape;43;p1"/>
            <p:cNvSpPr/>
            <p:nvPr/>
          </p:nvSpPr>
          <p:spPr>
            <a:xfrm rot="10800000">
              <a:off x="1765823" y="4215026"/>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 name="Google Shape;44;p1"/>
            <p:cNvSpPr/>
            <p:nvPr/>
          </p:nvSpPr>
          <p:spPr>
            <a:xfrm rot="10800000">
              <a:off x="361490" y="3429000"/>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 name="Google Shape;45;p1"/>
            <p:cNvSpPr/>
            <p:nvPr/>
          </p:nvSpPr>
          <p:spPr>
            <a:xfrm rot="10800000">
              <a:off x="617222" y="3026793"/>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 name="Google Shape;46;p1"/>
            <p:cNvSpPr/>
            <p:nvPr/>
          </p:nvSpPr>
          <p:spPr>
            <a:xfrm rot="10800000">
              <a:off x="4756928" y="5806277"/>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 name="Google Shape;47;p1"/>
            <p:cNvSpPr/>
            <p:nvPr/>
          </p:nvSpPr>
          <p:spPr>
            <a:xfrm rot="10800000">
              <a:off x="5532783" y="5898641"/>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8" name="Google Shape;48;p1"/>
            <p:cNvSpPr/>
            <p:nvPr/>
          </p:nvSpPr>
          <p:spPr>
            <a:xfrm rot="10800000">
              <a:off x="5098674" y="6249623"/>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 name="Google Shape;49;p1"/>
            <p:cNvSpPr/>
            <p:nvPr/>
          </p:nvSpPr>
          <p:spPr>
            <a:xfrm rot="10800000">
              <a:off x="3962601" y="6203441"/>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 name="Google Shape;50;p1"/>
            <p:cNvSpPr/>
            <p:nvPr/>
          </p:nvSpPr>
          <p:spPr>
            <a:xfrm rot="10800000">
              <a:off x="3684066" y="6646786"/>
              <a:ext cx="146339" cy="146339"/>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 name="Google Shape;51;p1"/>
            <p:cNvSpPr/>
            <p:nvPr/>
          </p:nvSpPr>
          <p:spPr>
            <a:xfrm rot="10800000">
              <a:off x="3772389" y="5448657"/>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 name="Google Shape;52;p1"/>
            <p:cNvSpPr/>
            <p:nvPr/>
          </p:nvSpPr>
          <p:spPr>
            <a:xfrm rot="10800000">
              <a:off x="7426898" y="5806277"/>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 name="Google Shape;53;p1"/>
            <p:cNvSpPr/>
            <p:nvPr/>
          </p:nvSpPr>
          <p:spPr>
            <a:xfrm rot="10800000">
              <a:off x="8202753" y="5898641"/>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4" name="Google Shape;54;p1"/>
            <p:cNvSpPr/>
            <p:nvPr/>
          </p:nvSpPr>
          <p:spPr>
            <a:xfrm rot="10800000">
              <a:off x="7768644" y="6249623"/>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 name="Google Shape;55;p1"/>
            <p:cNvSpPr/>
            <p:nvPr/>
          </p:nvSpPr>
          <p:spPr>
            <a:xfrm rot="10800000">
              <a:off x="6632571" y="6203441"/>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6" name="Google Shape;56;p1"/>
            <p:cNvSpPr/>
            <p:nvPr/>
          </p:nvSpPr>
          <p:spPr>
            <a:xfrm rot="10800000">
              <a:off x="6354036" y="6646786"/>
              <a:ext cx="146339" cy="146339"/>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7" name="Google Shape;57;p1"/>
            <p:cNvSpPr/>
            <p:nvPr/>
          </p:nvSpPr>
          <p:spPr>
            <a:xfrm rot="10800000">
              <a:off x="8684487" y="6391054"/>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58" name="Google Shape;58;p1"/>
            <p:cNvGrpSpPr/>
            <p:nvPr/>
          </p:nvGrpSpPr>
          <p:grpSpPr>
            <a:xfrm rot="5400000">
              <a:off x="3904907" y="-171264"/>
              <a:ext cx="1567701" cy="1934509"/>
              <a:chOff x="361490" y="3026793"/>
              <a:chExt cx="1567701" cy="1934509"/>
            </a:xfrm>
          </p:grpSpPr>
          <p:sp>
            <p:nvSpPr>
              <p:cNvPr id="59" name="Google Shape;59;p1"/>
              <p:cNvSpPr/>
              <p:nvPr/>
            </p:nvSpPr>
            <p:spPr>
              <a:xfrm rot="10800000">
                <a:off x="579699" y="4797934"/>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0" name="Google Shape;60;p1"/>
              <p:cNvSpPr/>
              <p:nvPr/>
            </p:nvSpPr>
            <p:spPr>
              <a:xfrm rot="10800000">
                <a:off x="989968" y="4122662"/>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1" name="Google Shape;61;p1"/>
              <p:cNvSpPr/>
              <p:nvPr/>
            </p:nvSpPr>
            <p:spPr>
              <a:xfrm rot="10800000">
                <a:off x="1765823" y="4215026"/>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2" name="Google Shape;62;p1"/>
              <p:cNvSpPr/>
              <p:nvPr/>
            </p:nvSpPr>
            <p:spPr>
              <a:xfrm rot="10800000">
                <a:off x="1331714" y="4566008"/>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3" name="Google Shape;63;p1"/>
              <p:cNvSpPr/>
              <p:nvPr/>
            </p:nvSpPr>
            <p:spPr>
              <a:xfrm rot="10800000">
                <a:off x="361490" y="3429000"/>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4" name="Google Shape;64;p1"/>
              <p:cNvSpPr/>
              <p:nvPr/>
            </p:nvSpPr>
            <p:spPr>
              <a:xfrm rot="10800000">
                <a:off x="617222" y="3026793"/>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65" name="Google Shape;65;p1"/>
            <p:cNvSpPr/>
            <p:nvPr/>
          </p:nvSpPr>
          <p:spPr>
            <a:xfrm rot="-5400000">
              <a:off x="6349928" y="230349"/>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6" name="Google Shape;66;p1"/>
            <p:cNvSpPr/>
            <p:nvPr/>
          </p:nvSpPr>
          <p:spPr>
            <a:xfrm rot="-5400000">
              <a:off x="6932836" y="640618"/>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7" name="Google Shape;67;p1"/>
            <p:cNvSpPr/>
            <p:nvPr/>
          </p:nvSpPr>
          <p:spPr>
            <a:xfrm rot="-5400000">
              <a:off x="7718863" y="991217"/>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8" name="Google Shape;68;p1"/>
            <p:cNvSpPr/>
            <p:nvPr/>
          </p:nvSpPr>
          <p:spPr>
            <a:xfrm rot="-5400000">
              <a:off x="5534264" y="868218"/>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9" name="Google Shape;69;p1"/>
            <p:cNvSpPr/>
            <p:nvPr/>
          </p:nvSpPr>
          <p:spPr>
            <a:xfrm rot="-5400000">
              <a:off x="7626498" y="12140"/>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0" name="Google Shape;70;p1"/>
            <p:cNvSpPr/>
            <p:nvPr/>
          </p:nvSpPr>
          <p:spPr>
            <a:xfrm rot="-5400000">
              <a:off x="8121069" y="267872"/>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1" name="Google Shape;71;p1"/>
            <p:cNvSpPr/>
            <p:nvPr/>
          </p:nvSpPr>
          <p:spPr>
            <a:xfrm>
              <a:off x="10971357" y="2042457"/>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2" name="Google Shape;72;p1"/>
            <p:cNvSpPr/>
            <p:nvPr/>
          </p:nvSpPr>
          <p:spPr>
            <a:xfrm>
              <a:off x="10807989" y="2537028"/>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3" name="Google Shape;73;p1"/>
            <p:cNvSpPr/>
            <p:nvPr/>
          </p:nvSpPr>
          <p:spPr>
            <a:xfrm>
              <a:off x="10082069" y="1793941"/>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4" name="Google Shape;74;p1"/>
            <p:cNvSpPr/>
            <p:nvPr/>
          </p:nvSpPr>
          <p:spPr>
            <a:xfrm flipH="1" rot="10800000">
              <a:off x="10699173" y="4519826"/>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5" name="Google Shape;75;p1"/>
            <p:cNvSpPr/>
            <p:nvPr/>
          </p:nvSpPr>
          <p:spPr>
            <a:xfrm flipH="1" rot="10800000">
              <a:off x="9496020" y="4946497"/>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6" name="Google Shape;76;p1"/>
            <p:cNvSpPr/>
            <p:nvPr/>
          </p:nvSpPr>
          <p:spPr>
            <a:xfrm flipH="1" rot="10800000">
              <a:off x="11690638" y="2926594"/>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7" name="Google Shape;77;p1"/>
            <p:cNvSpPr/>
            <p:nvPr/>
          </p:nvSpPr>
          <p:spPr>
            <a:xfrm flipH="1" rot="10800000">
              <a:off x="11564793" y="3521364"/>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8" name="Google Shape;78;p1"/>
            <p:cNvSpPr/>
            <p:nvPr/>
          </p:nvSpPr>
          <p:spPr>
            <a:xfrm rot="10800000">
              <a:off x="3923711" y="3802027"/>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9" name="Google Shape;79;p1"/>
            <p:cNvSpPr/>
            <p:nvPr/>
          </p:nvSpPr>
          <p:spPr>
            <a:xfrm rot="10800000">
              <a:off x="4699566" y="3894391"/>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0" name="Google Shape;80;p1"/>
            <p:cNvSpPr/>
            <p:nvPr/>
          </p:nvSpPr>
          <p:spPr>
            <a:xfrm rot="10800000">
              <a:off x="4265457" y="4245373"/>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1" name="Google Shape;81;p1"/>
            <p:cNvSpPr/>
            <p:nvPr/>
          </p:nvSpPr>
          <p:spPr>
            <a:xfrm rot="10800000">
              <a:off x="3129384" y="4199191"/>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2" name="Google Shape;82;p1"/>
            <p:cNvSpPr/>
            <p:nvPr/>
          </p:nvSpPr>
          <p:spPr>
            <a:xfrm rot="10800000">
              <a:off x="2850849" y="4642536"/>
              <a:ext cx="146339" cy="146339"/>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3" name="Google Shape;83;p1"/>
            <p:cNvSpPr/>
            <p:nvPr/>
          </p:nvSpPr>
          <p:spPr>
            <a:xfrm rot="10800000">
              <a:off x="2939172" y="3444407"/>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4" name="Google Shape;84;p1"/>
            <p:cNvSpPr/>
            <p:nvPr/>
          </p:nvSpPr>
          <p:spPr>
            <a:xfrm rot="10800000">
              <a:off x="9063335" y="3989498"/>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 name="Google Shape;85;p1"/>
            <p:cNvSpPr/>
            <p:nvPr/>
          </p:nvSpPr>
          <p:spPr>
            <a:xfrm rot="10800000">
              <a:off x="9627011" y="3972180"/>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6" name="Google Shape;86;p1"/>
            <p:cNvSpPr/>
            <p:nvPr/>
          </p:nvSpPr>
          <p:spPr>
            <a:xfrm rot="10800000">
              <a:off x="8648985" y="4730351"/>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7" name="Google Shape;87;p1"/>
            <p:cNvSpPr/>
            <p:nvPr/>
          </p:nvSpPr>
          <p:spPr>
            <a:xfrm rot="10800000">
              <a:off x="7803892" y="3865384"/>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8" name="Google Shape;88;p1"/>
            <p:cNvSpPr/>
            <p:nvPr/>
          </p:nvSpPr>
          <p:spPr>
            <a:xfrm rot="10800000">
              <a:off x="7525357" y="4308729"/>
              <a:ext cx="146339" cy="146339"/>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
            <p:cNvSpPr/>
            <p:nvPr/>
          </p:nvSpPr>
          <p:spPr>
            <a:xfrm rot="10800000">
              <a:off x="7613680" y="3110600"/>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0" name="Google Shape;90;p1"/>
            <p:cNvSpPr/>
            <p:nvPr/>
          </p:nvSpPr>
          <p:spPr>
            <a:xfrm rot="10800000">
              <a:off x="1719641" y="2170323"/>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 name="Google Shape;91;p1"/>
            <p:cNvSpPr/>
            <p:nvPr/>
          </p:nvSpPr>
          <p:spPr>
            <a:xfrm rot="10800000">
              <a:off x="2210513" y="1554575"/>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2" name="Google Shape;92;p1"/>
            <p:cNvSpPr/>
            <p:nvPr/>
          </p:nvSpPr>
          <p:spPr>
            <a:xfrm rot="10800000">
              <a:off x="2986368" y="1646939"/>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1"/>
            <p:cNvSpPr/>
            <p:nvPr/>
          </p:nvSpPr>
          <p:spPr>
            <a:xfrm rot="10800000">
              <a:off x="1684139" y="2948538"/>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1"/>
            <p:cNvSpPr/>
            <p:nvPr/>
          </p:nvSpPr>
          <p:spPr>
            <a:xfrm rot="10800000">
              <a:off x="5915115" y="2134821"/>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5" name="Google Shape;95;p1"/>
            <p:cNvSpPr/>
            <p:nvPr/>
          </p:nvSpPr>
          <p:spPr>
            <a:xfrm rot="10800000">
              <a:off x="6405987" y="1519073"/>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6" name="Google Shape;96;p1"/>
            <p:cNvSpPr/>
            <p:nvPr/>
          </p:nvSpPr>
          <p:spPr>
            <a:xfrm rot="10800000">
              <a:off x="7181842" y="1611437"/>
              <a:ext cx="163368" cy="163368"/>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7" name="Google Shape;97;p1"/>
            <p:cNvSpPr/>
            <p:nvPr/>
          </p:nvSpPr>
          <p:spPr>
            <a:xfrm rot="10800000">
              <a:off x="8565529" y="1887241"/>
              <a:ext cx="255732" cy="255732"/>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 name="Google Shape;98;p1"/>
            <p:cNvSpPr/>
            <p:nvPr/>
          </p:nvSpPr>
          <p:spPr>
            <a:xfrm rot="10800000">
              <a:off x="9341833" y="2317383"/>
              <a:ext cx="146339" cy="146339"/>
            </a:xfrm>
            <a:prstGeom prst="star5">
              <a:avLst>
                <a:gd fmla="val 19098" name="adj"/>
                <a:gd fmla="val 105146" name="hf"/>
                <a:gd fmla="val 110557" name="vf"/>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67C1"/>
            </a:gs>
            <a:gs pos="36000">
              <a:srgbClr val="0180CC"/>
            </a:gs>
            <a:gs pos="86000">
              <a:srgbClr val="0E4684"/>
            </a:gs>
            <a:gs pos="100000">
              <a:srgbClr val="0E4684"/>
            </a:gs>
          </a:gsLst>
          <a:lin ang="5400000" scaled="0"/>
        </a:gradFill>
      </p:bgPr>
    </p:bg>
    <p:spTree>
      <p:nvGrpSpPr>
        <p:cNvPr id="171" name="Shape 171"/>
        <p:cNvGrpSpPr/>
        <p:nvPr/>
      </p:nvGrpSpPr>
      <p:grpSpPr>
        <a:xfrm>
          <a:off x="0" y="0"/>
          <a:ext cx="0" cy="0"/>
          <a:chOff x="0" y="0"/>
          <a:chExt cx="0" cy="0"/>
        </a:xfrm>
      </p:grpSpPr>
      <p:sp>
        <p:nvSpPr>
          <p:cNvPr id="172" name="Google Shape;172;p13"/>
          <p:cNvSpPr txBox="1"/>
          <p:nvPr/>
        </p:nvSpPr>
        <p:spPr>
          <a:xfrm>
            <a:off x="4310900" y="582616"/>
            <a:ext cx="3570300" cy="1893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IN" sz="3900">
                <a:solidFill>
                  <a:schemeClr val="lt1"/>
                </a:solidFill>
                <a:latin typeface="Work Sans SemiBold"/>
                <a:ea typeface="Work Sans SemiBold"/>
                <a:cs typeface="Work Sans SemiBold"/>
                <a:sym typeface="Work Sans SemiBold"/>
              </a:rPr>
              <a:t>Youth Problem Gambling</a:t>
            </a:r>
            <a:endParaRPr sz="3300"/>
          </a:p>
        </p:txBody>
      </p:sp>
      <p:sp>
        <p:nvSpPr>
          <p:cNvPr id="173" name="Google Shape;173;p13"/>
          <p:cNvSpPr/>
          <p:nvPr/>
        </p:nvSpPr>
        <p:spPr>
          <a:xfrm>
            <a:off x="4660900" y="5531157"/>
            <a:ext cx="2870200" cy="744228"/>
          </a:xfrm>
          <a:prstGeom prst="roundRect">
            <a:avLst>
              <a:gd fmla="val 34042" name="adj"/>
            </a:avLst>
          </a:prstGeom>
          <a:solidFill>
            <a:srgbClr val="0F4E93"/>
          </a:solidFill>
          <a:ln cap="flat" cmpd="sng" w="25400">
            <a:solidFill>
              <a:srgbClr val="0180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 name="Google Shape;174;p13"/>
          <p:cNvSpPr txBox="1"/>
          <p:nvPr/>
        </p:nvSpPr>
        <p:spPr>
          <a:xfrm>
            <a:off x="5031446" y="5641661"/>
            <a:ext cx="21291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IN" sz="2000">
                <a:solidFill>
                  <a:schemeClr val="lt1"/>
                </a:solidFill>
                <a:latin typeface="Work Sans ExtraBold"/>
                <a:ea typeface="Work Sans ExtraBold"/>
                <a:cs typeface="Work Sans ExtraBold"/>
                <a:sym typeface="Work Sans ExtraBold"/>
              </a:rPr>
              <a:t>By Adriel Willis</a:t>
            </a:r>
            <a:endParaRPr sz="1700"/>
          </a:p>
        </p:txBody>
      </p:sp>
      <p:pic>
        <p:nvPicPr>
          <p:cNvPr id="175" name="Google Shape;175;p13"/>
          <p:cNvPicPr preferRelativeResize="0"/>
          <p:nvPr/>
        </p:nvPicPr>
        <p:blipFill>
          <a:blip r:embed="rId3">
            <a:alphaModFix/>
          </a:blip>
          <a:stretch>
            <a:fillRect/>
          </a:stretch>
        </p:blipFill>
        <p:spPr>
          <a:xfrm>
            <a:off x="4038600" y="2475916"/>
            <a:ext cx="4356099" cy="290406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p:nvPr/>
        </p:nvSpPr>
        <p:spPr>
          <a:xfrm>
            <a:off x="839787" y="1348104"/>
            <a:ext cx="4064000" cy="744228"/>
          </a:xfrm>
          <a:prstGeom prst="roundRect">
            <a:avLst>
              <a:gd fmla="val 34042" name="adj"/>
            </a:avLst>
          </a:prstGeom>
          <a:solidFill>
            <a:srgbClr val="0F4E93"/>
          </a:solidFill>
          <a:ln cap="flat" cmpd="sng" w="25400">
            <a:solidFill>
              <a:srgbClr val="0180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14"/>
          <p:cNvSpPr txBox="1"/>
          <p:nvPr/>
        </p:nvSpPr>
        <p:spPr>
          <a:xfrm>
            <a:off x="1158019" y="1458608"/>
            <a:ext cx="3427541"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IN" sz="2800">
                <a:solidFill>
                  <a:schemeClr val="lt1"/>
                </a:solidFill>
                <a:latin typeface="Work Sans ExtraBold"/>
                <a:ea typeface="Work Sans ExtraBold"/>
                <a:cs typeface="Work Sans ExtraBold"/>
                <a:sym typeface="Work Sans ExtraBold"/>
              </a:rPr>
              <a:t>ABOUT THE ISSUE</a:t>
            </a:r>
            <a:endParaRPr/>
          </a:p>
        </p:txBody>
      </p:sp>
      <p:sp>
        <p:nvSpPr>
          <p:cNvPr id="182" name="Google Shape;182;p14"/>
          <p:cNvSpPr txBox="1"/>
          <p:nvPr/>
        </p:nvSpPr>
        <p:spPr>
          <a:xfrm>
            <a:off x="839787" y="2481274"/>
            <a:ext cx="5373600" cy="3663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IN" sz="1600">
                <a:solidFill>
                  <a:schemeClr val="lt1"/>
                </a:solidFill>
                <a:latin typeface="Open Sans"/>
                <a:ea typeface="Open Sans"/>
                <a:cs typeface="Open Sans"/>
                <a:sym typeface="Open Sans"/>
              </a:rPr>
              <a:t>Today, we're tackling a significant issue: adolescent gambling. With the explosion of online gaming and the inclusion of gambling elements in video games, young people are increasingly drawn into risky behavior that can lead to addiction. We're seeing a cycle where they get hooked without even recognizing the dangers. It's crucial for us to step up and implement regulations to protect them and prevent these harmful habits from taking hold. This is a serious problem that demands our immediate attention.</a:t>
            </a:r>
            <a:endParaRPr sz="1000">
              <a:solidFill>
                <a:schemeClr val="lt1"/>
              </a:solidFill>
              <a:latin typeface="Open Sans"/>
              <a:ea typeface="Open Sans"/>
              <a:cs typeface="Open Sans"/>
              <a:sym typeface="Open Sans"/>
            </a:endParaRPr>
          </a:p>
        </p:txBody>
      </p:sp>
      <p:sp>
        <p:nvSpPr>
          <p:cNvPr id="183" name="Google Shape;183;p14"/>
          <p:cNvSpPr/>
          <p:nvPr/>
        </p:nvSpPr>
        <p:spPr>
          <a:xfrm>
            <a:off x="7294838" y="755650"/>
            <a:ext cx="4064100" cy="5346600"/>
          </a:xfrm>
          <a:prstGeom prst="roundRect">
            <a:avLst>
              <a:gd fmla="val 12024" name="adj"/>
            </a:avLst>
          </a:prstGeom>
          <a:gradFill>
            <a:gsLst>
              <a:gs pos="0">
                <a:srgbClr val="072A4D">
                  <a:alpha val="0"/>
                </a:srgbClr>
              </a:gs>
              <a:gs pos="100000">
                <a:srgbClr val="072A4D">
                  <a:alpha val="74901"/>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84" name="Google Shape;184;p14"/>
          <p:cNvPicPr preferRelativeResize="0"/>
          <p:nvPr/>
        </p:nvPicPr>
        <p:blipFill>
          <a:blip r:embed="rId3">
            <a:alphaModFix/>
          </a:blip>
          <a:stretch>
            <a:fillRect/>
          </a:stretch>
        </p:blipFill>
        <p:spPr>
          <a:xfrm>
            <a:off x="7294900" y="3409850"/>
            <a:ext cx="4064002" cy="2692400"/>
          </a:xfrm>
          <a:prstGeom prst="rect">
            <a:avLst/>
          </a:prstGeom>
          <a:noFill/>
          <a:ln>
            <a:noFill/>
          </a:ln>
        </p:spPr>
      </p:pic>
      <p:pic>
        <p:nvPicPr>
          <p:cNvPr id="185" name="Google Shape;185;p14"/>
          <p:cNvPicPr preferRelativeResize="0"/>
          <p:nvPr/>
        </p:nvPicPr>
        <p:blipFill>
          <a:blip r:embed="rId4">
            <a:alphaModFix/>
          </a:blip>
          <a:stretch>
            <a:fillRect/>
          </a:stretch>
        </p:blipFill>
        <p:spPr>
          <a:xfrm>
            <a:off x="7294950" y="755650"/>
            <a:ext cx="4064000" cy="26542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5"/>
          <p:cNvSpPr/>
          <p:nvPr/>
        </p:nvSpPr>
        <p:spPr>
          <a:xfrm>
            <a:off x="4064000" y="1348105"/>
            <a:ext cx="4064000" cy="744228"/>
          </a:xfrm>
          <a:prstGeom prst="roundRect">
            <a:avLst>
              <a:gd fmla="val 34042" name="adj"/>
            </a:avLst>
          </a:prstGeom>
          <a:solidFill>
            <a:srgbClr val="0F4E93"/>
          </a:solidFill>
          <a:ln cap="flat" cmpd="sng" w="25400">
            <a:solidFill>
              <a:srgbClr val="0180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 name="Google Shape;191;p15"/>
          <p:cNvSpPr txBox="1"/>
          <p:nvPr/>
        </p:nvSpPr>
        <p:spPr>
          <a:xfrm>
            <a:off x="4570587" y="1458609"/>
            <a:ext cx="3050700" cy="43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IN" sz="2200">
                <a:solidFill>
                  <a:schemeClr val="lt1"/>
                </a:solidFill>
                <a:latin typeface="Work Sans ExtraBold"/>
                <a:ea typeface="Work Sans ExtraBold"/>
                <a:cs typeface="Work Sans ExtraBold"/>
                <a:sym typeface="Work Sans ExtraBold"/>
              </a:rPr>
              <a:t>1st Perspective</a:t>
            </a:r>
            <a:endParaRPr sz="800"/>
          </a:p>
        </p:txBody>
      </p:sp>
      <p:grpSp>
        <p:nvGrpSpPr>
          <p:cNvPr id="192" name="Google Shape;192;p15"/>
          <p:cNvGrpSpPr/>
          <p:nvPr/>
        </p:nvGrpSpPr>
        <p:grpSpPr>
          <a:xfrm>
            <a:off x="-316436" y="-224572"/>
            <a:ext cx="1069345" cy="1069345"/>
            <a:chOff x="5501640" y="2560320"/>
            <a:chExt cx="1379220" cy="1379220"/>
          </a:xfrm>
        </p:grpSpPr>
        <p:sp>
          <p:nvSpPr>
            <p:cNvPr id="193" name="Google Shape;193;p15"/>
            <p:cNvSpPr/>
            <p:nvPr/>
          </p:nvSpPr>
          <p:spPr>
            <a:xfrm>
              <a:off x="5501640" y="2560320"/>
              <a:ext cx="1379220" cy="1379220"/>
            </a:xfrm>
            <a:prstGeom prst="ellipse">
              <a:avLst/>
            </a:prstGeom>
            <a:gradFill>
              <a:gsLst>
                <a:gs pos="0">
                  <a:schemeClr val="lt1"/>
                </a:gs>
                <a:gs pos="35000">
                  <a:srgbClr val="F2F2F2"/>
                </a:gs>
                <a:gs pos="100000">
                  <a:srgbClr val="7F7F7F"/>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 name="Google Shape;194;p15"/>
            <p:cNvSpPr/>
            <p:nvPr/>
          </p:nvSpPr>
          <p:spPr>
            <a:xfrm>
              <a:off x="5952620" y="2778161"/>
              <a:ext cx="143380" cy="14338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 name="Google Shape;195;p15"/>
            <p:cNvSpPr/>
            <p:nvPr/>
          </p:nvSpPr>
          <p:spPr>
            <a:xfrm>
              <a:off x="5671171" y="2885570"/>
              <a:ext cx="336261" cy="33626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96" name="Google Shape;196;p15"/>
          <p:cNvGrpSpPr/>
          <p:nvPr/>
        </p:nvGrpSpPr>
        <p:grpSpPr>
          <a:xfrm>
            <a:off x="538815" y="1022988"/>
            <a:ext cx="1069345" cy="1069345"/>
            <a:chOff x="5501640" y="2560320"/>
            <a:chExt cx="1379220" cy="1379220"/>
          </a:xfrm>
        </p:grpSpPr>
        <p:sp>
          <p:nvSpPr>
            <p:cNvPr id="197" name="Google Shape;197;p15"/>
            <p:cNvSpPr/>
            <p:nvPr/>
          </p:nvSpPr>
          <p:spPr>
            <a:xfrm>
              <a:off x="5501640" y="2560320"/>
              <a:ext cx="1379220" cy="1379220"/>
            </a:xfrm>
            <a:prstGeom prst="ellipse">
              <a:avLst/>
            </a:prstGeom>
            <a:gradFill>
              <a:gsLst>
                <a:gs pos="0">
                  <a:schemeClr val="lt1"/>
                </a:gs>
                <a:gs pos="35000">
                  <a:srgbClr val="F2F2F2"/>
                </a:gs>
                <a:gs pos="100000">
                  <a:srgbClr val="7F7F7F"/>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15"/>
            <p:cNvSpPr/>
            <p:nvPr/>
          </p:nvSpPr>
          <p:spPr>
            <a:xfrm>
              <a:off x="5952620" y="2778161"/>
              <a:ext cx="143380" cy="14338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15"/>
            <p:cNvSpPr/>
            <p:nvPr/>
          </p:nvSpPr>
          <p:spPr>
            <a:xfrm>
              <a:off x="5671171" y="2885570"/>
              <a:ext cx="336261" cy="33626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00" name="Google Shape;200;p15"/>
          <p:cNvGrpSpPr/>
          <p:nvPr/>
        </p:nvGrpSpPr>
        <p:grpSpPr>
          <a:xfrm>
            <a:off x="55075" y="2270549"/>
            <a:ext cx="1069345" cy="1069345"/>
            <a:chOff x="5501640" y="2560320"/>
            <a:chExt cx="1379220" cy="1379220"/>
          </a:xfrm>
        </p:grpSpPr>
        <p:sp>
          <p:nvSpPr>
            <p:cNvPr id="201" name="Google Shape;201;p15"/>
            <p:cNvSpPr/>
            <p:nvPr/>
          </p:nvSpPr>
          <p:spPr>
            <a:xfrm>
              <a:off x="5501640" y="2560320"/>
              <a:ext cx="1379220" cy="1379220"/>
            </a:xfrm>
            <a:prstGeom prst="ellipse">
              <a:avLst/>
            </a:prstGeom>
            <a:gradFill>
              <a:gsLst>
                <a:gs pos="0">
                  <a:schemeClr val="lt1"/>
                </a:gs>
                <a:gs pos="35000">
                  <a:srgbClr val="F2F2F2"/>
                </a:gs>
                <a:gs pos="100000">
                  <a:srgbClr val="7F7F7F"/>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15"/>
            <p:cNvSpPr/>
            <p:nvPr/>
          </p:nvSpPr>
          <p:spPr>
            <a:xfrm>
              <a:off x="5952620" y="2778161"/>
              <a:ext cx="143380" cy="14338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 name="Google Shape;203;p15"/>
            <p:cNvSpPr/>
            <p:nvPr/>
          </p:nvSpPr>
          <p:spPr>
            <a:xfrm>
              <a:off x="5671171" y="2885570"/>
              <a:ext cx="336261" cy="33626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04" name="Google Shape;204;p15"/>
          <p:cNvGrpSpPr/>
          <p:nvPr/>
        </p:nvGrpSpPr>
        <p:grpSpPr>
          <a:xfrm>
            <a:off x="986651" y="3518109"/>
            <a:ext cx="1069345" cy="1069345"/>
            <a:chOff x="5501640" y="2560320"/>
            <a:chExt cx="1379220" cy="1379220"/>
          </a:xfrm>
        </p:grpSpPr>
        <p:sp>
          <p:nvSpPr>
            <p:cNvPr id="205" name="Google Shape;205;p15"/>
            <p:cNvSpPr/>
            <p:nvPr/>
          </p:nvSpPr>
          <p:spPr>
            <a:xfrm>
              <a:off x="5501640" y="2560320"/>
              <a:ext cx="1379220" cy="1379220"/>
            </a:xfrm>
            <a:prstGeom prst="ellipse">
              <a:avLst/>
            </a:prstGeom>
            <a:gradFill>
              <a:gsLst>
                <a:gs pos="0">
                  <a:schemeClr val="lt1"/>
                </a:gs>
                <a:gs pos="35000">
                  <a:srgbClr val="F2F2F2"/>
                </a:gs>
                <a:gs pos="100000">
                  <a:srgbClr val="7F7F7F"/>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15"/>
            <p:cNvSpPr/>
            <p:nvPr/>
          </p:nvSpPr>
          <p:spPr>
            <a:xfrm>
              <a:off x="5952620" y="2778161"/>
              <a:ext cx="143380" cy="14338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 name="Google Shape;207;p15"/>
            <p:cNvSpPr/>
            <p:nvPr/>
          </p:nvSpPr>
          <p:spPr>
            <a:xfrm>
              <a:off x="5671171" y="2885570"/>
              <a:ext cx="336261" cy="33626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08" name="Google Shape;208;p15"/>
          <p:cNvGrpSpPr/>
          <p:nvPr/>
        </p:nvGrpSpPr>
        <p:grpSpPr>
          <a:xfrm>
            <a:off x="265939" y="4765670"/>
            <a:ext cx="1069345" cy="1069345"/>
            <a:chOff x="5501640" y="2560320"/>
            <a:chExt cx="1379220" cy="1379220"/>
          </a:xfrm>
        </p:grpSpPr>
        <p:sp>
          <p:nvSpPr>
            <p:cNvPr id="209" name="Google Shape;209;p15"/>
            <p:cNvSpPr/>
            <p:nvPr/>
          </p:nvSpPr>
          <p:spPr>
            <a:xfrm>
              <a:off x="5501640" y="2560320"/>
              <a:ext cx="1379220" cy="1379220"/>
            </a:xfrm>
            <a:prstGeom prst="ellipse">
              <a:avLst/>
            </a:prstGeom>
            <a:gradFill>
              <a:gsLst>
                <a:gs pos="0">
                  <a:schemeClr val="lt1"/>
                </a:gs>
                <a:gs pos="35000">
                  <a:srgbClr val="F2F2F2"/>
                </a:gs>
                <a:gs pos="100000">
                  <a:srgbClr val="7F7F7F"/>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15"/>
            <p:cNvSpPr/>
            <p:nvPr/>
          </p:nvSpPr>
          <p:spPr>
            <a:xfrm>
              <a:off x="5952620" y="2778161"/>
              <a:ext cx="143380" cy="14338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1" name="Google Shape;211;p15"/>
            <p:cNvSpPr/>
            <p:nvPr/>
          </p:nvSpPr>
          <p:spPr>
            <a:xfrm>
              <a:off x="5671171" y="2885570"/>
              <a:ext cx="336261" cy="33626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12" name="Google Shape;212;p15"/>
          <p:cNvGrpSpPr/>
          <p:nvPr/>
        </p:nvGrpSpPr>
        <p:grpSpPr>
          <a:xfrm>
            <a:off x="1252941" y="6013228"/>
            <a:ext cx="1069345" cy="1069345"/>
            <a:chOff x="1252941" y="6013228"/>
            <a:chExt cx="1069345" cy="1069345"/>
          </a:xfrm>
        </p:grpSpPr>
        <p:sp>
          <p:nvSpPr>
            <p:cNvPr id="213" name="Google Shape;213;p15"/>
            <p:cNvSpPr/>
            <p:nvPr/>
          </p:nvSpPr>
          <p:spPr>
            <a:xfrm>
              <a:off x="1252941" y="6013228"/>
              <a:ext cx="1069345" cy="1069345"/>
            </a:xfrm>
            <a:prstGeom prst="ellipse">
              <a:avLst/>
            </a:prstGeom>
            <a:gradFill>
              <a:gsLst>
                <a:gs pos="0">
                  <a:srgbClr val="FFDF00"/>
                </a:gs>
                <a:gs pos="35000">
                  <a:srgbClr val="FFDF00"/>
                </a:gs>
                <a:gs pos="100000">
                  <a:srgbClr val="DEC400"/>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15"/>
            <p:cNvSpPr/>
            <p:nvPr/>
          </p:nvSpPr>
          <p:spPr>
            <a:xfrm>
              <a:off x="1602597" y="6182126"/>
              <a:ext cx="111166" cy="111166"/>
            </a:xfrm>
            <a:prstGeom prst="ellipse">
              <a:avLst/>
            </a:prstGeom>
            <a:solidFill>
              <a:srgbClr val="FFF28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5" name="Google Shape;215;p15"/>
            <p:cNvSpPr/>
            <p:nvPr/>
          </p:nvSpPr>
          <p:spPr>
            <a:xfrm>
              <a:off x="1384383" y="6265403"/>
              <a:ext cx="260712" cy="260712"/>
            </a:xfrm>
            <a:prstGeom prst="ellipse">
              <a:avLst/>
            </a:prstGeom>
            <a:solidFill>
              <a:srgbClr val="FFF28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16" name="Google Shape;216;p15"/>
          <p:cNvGrpSpPr/>
          <p:nvPr/>
        </p:nvGrpSpPr>
        <p:grpSpPr>
          <a:xfrm>
            <a:off x="-99319" y="17713"/>
            <a:ext cx="2194869" cy="6822575"/>
            <a:chOff x="-99319" y="17713"/>
            <a:chExt cx="2194869" cy="6822575"/>
          </a:xfrm>
        </p:grpSpPr>
        <p:sp>
          <p:nvSpPr>
            <p:cNvPr id="217" name="Google Shape;217;p15"/>
            <p:cNvSpPr txBox="1"/>
            <p:nvPr/>
          </p:nvSpPr>
          <p:spPr>
            <a:xfrm>
              <a:off x="-99319" y="17713"/>
              <a:ext cx="63511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3200">
                  <a:solidFill>
                    <a:srgbClr val="3F3F3F"/>
                  </a:solidFill>
                  <a:latin typeface="Work Sans SemiBold"/>
                  <a:ea typeface="Work Sans SemiBold"/>
                  <a:cs typeface="Work Sans SemiBold"/>
                  <a:sym typeface="Work Sans SemiBold"/>
                </a:rPr>
                <a:t>01</a:t>
              </a:r>
              <a:endParaRPr/>
            </a:p>
          </p:txBody>
        </p:sp>
        <p:sp>
          <p:nvSpPr>
            <p:cNvPr id="218" name="Google Shape;218;p15"/>
            <p:cNvSpPr txBox="1"/>
            <p:nvPr/>
          </p:nvSpPr>
          <p:spPr>
            <a:xfrm>
              <a:off x="730284" y="1265273"/>
              <a:ext cx="68640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3200">
                  <a:solidFill>
                    <a:srgbClr val="3F3F3F"/>
                  </a:solidFill>
                  <a:latin typeface="Work Sans SemiBold"/>
                  <a:ea typeface="Work Sans SemiBold"/>
                  <a:cs typeface="Work Sans SemiBold"/>
                  <a:sym typeface="Work Sans SemiBold"/>
                </a:rPr>
                <a:t>24</a:t>
              </a:r>
              <a:endParaRPr/>
            </a:p>
          </p:txBody>
        </p:sp>
        <p:sp>
          <p:nvSpPr>
            <p:cNvPr id="219" name="Google Shape;219;p15"/>
            <p:cNvSpPr txBox="1"/>
            <p:nvPr/>
          </p:nvSpPr>
          <p:spPr>
            <a:xfrm>
              <a:off x="255361" y="2512834"/>
              <a:ext cx="668773"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3200">
                  <a:solidFill>
                    <a:srgbClr val="3F3F3F"/>
                  </a:solidFill>
                  <a:latin typeface="Work Sans SemiBold"/>
                  <a:ea typeface="Work Sans SemiBold"/>
                  <a:cs typeface="Work Sans SemiBold"/>
                  <a:sym typeface="Work Sans SemiBold"/>
                </a:rPr>
                <a:t>32</a:t>
              </a:r>
              <a:endParaRPr/>
            </a:p>
          </p:txBody>
        </p:sp>
        <p:sp>
          <p:nvSpPr>
            <p:cNvPr id="220" name="Google Shape;220;p15"/>
            <p:cNvSpPr txBox="1"/>
            <p:nvPr/>
          </p:nvSpPr>
          <p:spPr>
            <a:xfrm>
              <a:off x="1169304" y="3760394"/>
              <a:ext cx="704039"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3200">
                  <a:solidFill>
                    <a:srgbClr val="3F3F3F"/>
                  </a:solidFill>
                  <a:latin typeface="Work Sans SemiBold"/>
                  <a:ea typeface="Work Sans SemiBold"/>
                  <a:cs typeface="Work Sans SemiBold"/>
                  <a:sym typeface="Work Sans SemiBold"/>
                </a:rPr>
                <a:t>44</a:t>
              </a:r>
              <a:endParaRPr/>
            </a:p>
          </p:txBody>
        </p:sp>
        <p:sp>
          <p:nvSpPr>
            <p:cNvPr id="221" name="Google Shape;221;p15"/>
            <p:cNvSpPr txBox="1"/>
            <p:nvPr/>
          </p:nvSpPr>
          <p:spPr>
            <a:xfrm>
              <a:off x="461416" y="5007955"/>
              <a:ext cx="678391"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3200">
                  <a:solidFill>
                    <a:srgbClr val="3F3F3F"/>
                  </a:solidFill>
                  <a:latin typeface="Work Sans SemiBold"/>
                  <a:ea typeface="Work Sans SemiBold"/>
                  <a:cs typeface="Work Sans SemiBold"/>
                  <a:sym typeface="Work Sans SemiBold"/>
                </a:rPr>
                <a:t>58</a:t>
              </a:r>
              <a:endParaRPr/>
            </a:p>
          </p:txBody>
        </p:sp>
        <p:sp>
          <p:nvSpPr>
            <p:cNvPr id="222" name="Google Shape;222;p15"/>
            <p:cNvSpPr txBox="1"/>
            <p:nvPr/>
          </p:nvSpPr>
          <p:spPr>
            <a:xfrm>
              <a:off x="1479676" y="6255513"/>
              <a:ext cx="615874"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3200">
                  <a:solidFill>
                    <a:srgbClr val="3F3F3F"/>
                  </a:solidFill>
                  <a:latin typeface="Work Sans SemiBold"/>
                  <a:ea typeface="Work Sans SemiBold"/>
                  <a:cs typeface="Work Sans SemiBold"/>
                  <a:sym typeface="Work Sans SemiBold"/>
                </a:rPr>
                <a:t>10</a:t>
              </a:r>
              <a:endParaRPr/>
            </a:p>
          </p:txBody>
        </p:sp>
      </p:grpSp>
      <p:grpSp>
        <p:nvGrpSpPr>
          <p:cNvPr id="223" name="Google Shape;223;p15"/>
          <p:cNvGrpSpPr/>
          <p:nvPr/>
        </p:nvGrpSpPr>
        <p:grpSpPr>
          <a:xfrm>
            <a:off x="9754546" y="-224572"/>
            <a:ext cx="2638722" cy="7307145"/>
            <a:chOff x="9754546" y="-224572"/>
            <a:chExt cx="2638722" cy="7307145"/>
          </a:xfrm>
        </p:grpSpPr>
        <p:grpSp>
          <p:nvGrpSpPr>
            <p:cNvPr id="224" name="Google Shape;224;p15"/>
            <p:cNvGrpSpPr/>
            <p:nvPr/>
          </p:nvGrpSpPr>
          <p:grpSpPr>
            <a:xfrm>
              <a:off x="10468672" y="1022988"/>
              <a:ext cx="1069345" cy="1069345"/>
              <a:chOff x="5501640" y="2560320"/>
              <a:chExt cx="1379220" cy="1379220"/>
            </a:xfrm>
          </p:grpSpPr>
          <p:sp>
            <p:nvSpPr>
              <p:cNvPr id="225" name="Google Shape;225;p15"/>
              <p:cNvSpPr/>
              <p:nvPr/>
            </p:nvSpPr>
            <p:spPr>
              <a:xfrm>
                <a:off x="5501640" y="2560320"/>
                <a:ext cx="1379220" cy="1379220"/>
              </a:xfrm>
              <a:prstGeom prst="ellipse">
                <a:avLst/>
              </a:prstGeom>
              <a:gradFill>
                <a:gsLst>
                  <a:gs pos="0">
                    <a:schemeClr val="lt1"/>
                  </a:gs>
                  <a:gs pos="35000">
                    <a:srgbClr val="F2F2F2"/>
                  </a:gs>
                  <a:gs pos="100000">
                    <a:srgbClr val="7F7F7F"/>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15"/>
              <p:cNvSpPr/>
              <p:nvPr/>
            </p:nvSpPr>
            <p:spPr>
              <a:xfrm>
                <a:off x="5952620" y="2778161"/>
                <a:ext cx="143380" cy="14338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 name="Google Shape;227;p15"/>
              <p:cNvSpPr/>
              <p:nvPr/>
            </p:nvSpPr>
            <p:spPr>
              <a:xfrm>
                <a:off x="5671171" y="2885570"/>
                <a:ext cx="336261" cy="33626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28" name="Google Shape;228;p15"/>
            <p:cNvGrpSpPr/>
            <p:nvPr/>
          </p:nvGrpSpPr>
          <p:grpSpPr>
            <a:xfrm>
              <a:off x="10952412" y="2270549"/>
              <a:ext cx="1069345" cy="1069345"/>
              <a:chOff x="5501640" y="2560320"/>
              <a:chExt cx="1379220" cy="1379220"/>
            </a:xfrm>
          </p:grpSpPr>
          <p:sp>
            <p:nvSpPr>
              <p:cNvPr id="229" name="Google Shape;229;p15"/>
              <p:cNvSpPr/>
              <p:nvPr/>
            </p:nvSpPr>
            <p:spPr>
              <a:xfrm>
                <a:off x="5501640" y="2560320"/>
                <a:ext cx="1379220" cy="1379220"/>
              </a:xfrm>
              <a:prstGeom prst="ellipse">
                <a:avLst/>
              </a:prstGeom>
              <a:gradFill>
                <a:gsLst>
                  <a:gs pos="0">
                    <a:schemeClr val="lt1"/>
                  </a:gs>
                  <a:gs pos="35000">
                    <a:srgbClr val="F2F2F2"/>
                  </a:gs>
                  <a:gs pos="100000">
                    <a:srgbClr val="7F7F7F"/>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 name="Google Shape;230;p15"/>
              <p:cNvSpPr/>
              <p:nvPr/>
            </p:nvSpPr>
            <p:spPr>
              <a:xfrm>
                <a:off x="5952620" y="2778161"/>
                <a:ext cx="143380" cy="14338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 name="Google Shape;231;p15"/>
              <p:cNvSpPr/>
              <p:nvPr/>
            </p:nvSpPr>
            <p:spPr>
              <a:xfrm>
                <a:off x="5671171" y="2885570"/>
                <a:ext cx="336261" cy="33626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32" name="Google Shape;232;p15"/>
            <p:cNvGrpSpPr/>
            <p:nvPr/>
          </p:nvGrpSpPr>
          <p:grpSpPr>
            <a:xfrm>
              <a:off x="10020836" y="3518109"/>
              <a:ext cx="1069345" cy="1069345"/>
              <a:chOff x="5501640" y="2560320"/>
              <a:chExt cx="1379220" cy="1379220"/>
            </a:xfrm>
          </p:grpSpPr>
          <p:sp>
            <p:nvSpPr>
              <p:cNvPr id="233" name="Google Shape;233;p15"/>
              <p:cNvSpPr/>
              <p:nvPr/>
            </p:nvSpPr>
            <p:spPr>
              <a:xfrm>
                <a:off x="5501640" y="2560320"/>
                <a:ext cx="1379220" cy="1379220"/>
              </a:xfrm>
              <a:prstGeom prst="ellipse">
                <a:avLst/>
              </a:prstGeom>
              <a:gradFill>
                <a:gsLst>
                  <a:gs pos="0">
                    <a:schemeClr val="lt1"/>
                  </a:gs>
                  <a:gs pos="35000">
                    <a:srgbClr val="F2F2F2"/>
                  </a:gs>
                  <a:gs pos="100000">
                    <a:srgbClr val="7F7F7F"/>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5"/>
              <p:cNvSpPr/>
              <p:nvPr/>
            </p:nvSpPr>
            <p:spPr>
              <a:xfrm>
                <a:off x="5952620" y="2778161"/>
                <a:ext cx="143380" cy="14338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15"/>
              <p:cNvSpPr/>
              <p:nvPr/>
            </p:nvSpPr>
            <p:spPr>
              <a:xfrm>
                <a:off x="5671171" y="2885570"/>
                <a:ext cx="336261" cy="33626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36" name="Google Shape;236;p15"/>
            <p:cNvGrpSpPr/>
            <p:nvPr/>
          </p:nvGrpSpPr>
          <p:grpSpPr>
            <a:xfrm>
              <a:off x="10741548" y="4765670"/>
              <a:ext cx="1069345" cy="1069345"/>
              <a:chOff x="5501640" y="2560320"/>
              <a:chExt cx="1379220" cy="1379220"/>
            </a:xfrm>
          </p:grpSpPr>
          <p:sp>
            <p:nvSpPr>
              <p:cNvPr id="237" name="Google Shape;237;p15"/>
              <p:cNvSpPr/>
              <p:nvPr/>
            </p:nvSpPr>
            <p:spPr>
              <a:xfrm>
                <a:off x="5501640" y="2560320"/>
                <a:ext cx="1379220" cy="1379220"/>
              </a:xfrm>
              <a:prstGeom prst="ellipse">
                <a:avLst/>
              </a:prstGeom>
              <a:gradFill>
                <a:gsLst>
                  <a:gs pos="0">
                    <a:schemeClr val="lt1"/>
                  </a:gs>
                  <a:gs pos="35000">
                    <a:srgbClr val="F2F2F2"/>
                  </a:gs>
                  <a:gs pos="100000">
                    <a:srgbClr val="7F7F7F"/>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 name="Google Shape;238;p15"/>
              <p:cNvSpPr/>
              <p:nvPr/>
            </p:nvSpPr>
            <p:spPr>
              <a:xfrm>
                <a:off x="5952620" y="2778161"/>
                <a:ext cx="143380" cy="14338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9" name="Google Shape;239;p15"/>
              <p:cNvSpPr/>
              <p:nvPr/>
            </p:nvSpPr>
            <p:spPr>
              <a:xfrm>
                <a:off x="5671171" y="2885570"/>
                <a:ext cx="336261" cy="33626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40" name="Google Shape;240;p15"/>
            <p:cNvGrpSpPr/>
            <p:nvPr/>
          </p:nvGrpSpPr>
          <p:grpSpPr>
            <a:xfrm>
              <a:off x="9754546" y="6013228"/>
              <a:ext cx="1069345" cy="1069345"/>
              <a:chOff x="1252941" y="6013228"/>
              <a:chExt cx="1069345" cy="1069345"/>
            </a:xfrm>
          </p:grpSpPr>
          <p:sp>
            <p:nvSpPr>
              <p:cNvPr id="241" name="Google Shape;241;p15"/>
              <p:cNvSpPr/>
              <p:nvPr/>
            </p:nvSpPr>
            <p:spPr>
              <a:xfrm>
                <a:off x="1252941" y="6013228"/>
                <a:ext cx="1069345" cy="1069345"/>
              </a:xfrm>
              <a:prstGeom prst="ellipse">
                <a:avLst/>
              </a:prstGeom>
              <a:gradFill>
                <a:gsLst>
                  <a:gs pos="0">
                    <a:srgbClr val="FFDF00"/>
                  </a:gs>
                  <a:gs pos="35000">
                    <a:srgbClr val="FFDF00"/>
                  </a:gs>
                  <a:gs pos="100000">
                    <a:srgbClr val="DEC400"/>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2" name="Google Shape;242;p15"/>
              <p:cNvSpPr/>
              <p:nvPr/>
            </p:nvSpPr>
            <p:spPr>
              <a:xfrm>
                <a:off x="1602597" y="6182126"/>
                <a:ext cx="111166" cy="111166"/>
              </a:xfrm>
              <a:prstGeom prst="ellipse">
                <a:avLst/>
              </a:prstGeom>
              <a:solidFill>
                <a:srgbClr val="FFF28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 name="Google Shape;243;p15"/>
              <p:cNvSpPr/>
              <p:nvPr/>
            </p:nvSpPr>
            <p:spPr>
              <a:xfrm>
                <a:off x="1384383" y="6265403"/>
                <a:ext cx="260712" cy="260712"/>
              </a:xfrm>
              <a:prstGeom prst="ellipse">
                <a:avLst/>
              </a:prstGeom>
              <a:solidFill>
                <a:srgbClr val="FFF28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44" name="Google Shape;244;p15"/>
            <p:cNvGrpSpPr/>
            <p:nvPr/>
          </p:nvGrpSpPr>
          <p:grpSpPr>
            <a:xfrm>
              <a:off x="11323923" y="-224572"/>
              <a:ext cx="1069345" cy="1069345"/>
              <a:chOff x="11323923" y="-224572"/>
              <a:chExt cx="1069345" cy="1069345"/>
            </a:xfrm>
          </p:grpSpPr>
          <p:grpSp>
            <p:nvGrpSpPr>
              <p:cNvPr id="245" name="Google Shape;245;p15"/>
              <p:cNvGrpSpPr/>
              <p:nvPr/>
            </p:nvGrpSpPr>
            <p:grpSpPr>
              <a:xfrm>
                <a:off x="11323923" y="-224572"/>
                <a:ext cx="1069345" cy="1069345"/>
                <a:chOff x="5501640" y="2560320"/>
                <a:chExt cx="1379220" cy="1379220"/>
              </a:xfrm>
            </p:grpSpPr>
            <p:sp>
              <p:nvSpPr>
                <p:cNvPr id="246" name="Google Shape;246;p15"/>
                <p:cNvSpPr/>
                <p:nvPr/>
              </p:nvSpPr>
              <p:spPr>
                <a:xfrm>
                  <a:off x="5501640" y="2560320"/>
                  <a:ext cx="1379220" cy="1379220"/>
                </a:xfrm>
                <a:prstGeom prst="ellipse">
                  <a:avLst/>
                </a:prstGeom>
                <a:gradFill>
                  <a:gsLst>
                    <a:gs pos="0">
                      <a:schemeClr val="lt1"/>
                    </a:gs>
                    <a:gs pos="35000">
                      <a:srgbClr val="F2F2F2"/>
                    </a:gs>
                    <a:gs pos="100000">
                      <a:srgbClr val="7F7F7F"/>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 name="Google Shape;247;p15"/>
                <p:cNvSpPr/>
                <p:nvPr/>
              </p:nvSpPr>
              <p:spPr>
                <a:xfrm>
                  <a:off x="5952620" y="2778161"/>
                  <a:ext cx="143380" cy="14338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8" name="Google Shape;248;p15"/>
                <p:cNvSpPr/>
                <p:nvPr/>
              </p:nvSpPr>
              <p:spPr>
                <a:xfrm>
                  <a:off x="5671171" y="2885570"/>
                  <a:ext cx="336261" cy="33626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49" name="Google Shape;249;p15"/>
              <p:cNvSpPr txBox="1"/>
              <p:nvPr/>
            </p:nvSpPr>
            <p:spPr>
              <a:xfrm flipH="1">
                <a:off x="11553864" y="17713"/>
                <a:ext cx="609462"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3200">
                    <a:solidFill>
                      <a:srgbClr val="3F3F3F"/>
                    </a:solidFill>
                    <a:latin typeface="Work Sans SemiBold"/>
                    <a:ea typeface="Work Sans SemiBold"/>
                    <a:cs typeface="Work Sans SemiBold"/>
                    <a:sym typeface="Work Sans SemiBold"/>
                  </a:rPr>
                  <a:t>18</a:t>
                </a:r>
                <a:endParaRPr/>
              </a:p>
            </p:txBody>
          </p:sp>
        </p:grpSp>
        <p:sp>
          <p:nvSpPr>
            <p:cNvPr id="250" name="Google Shape;250;p15"/>
            <p:cNvSpPr txBox="1"/>
            <p:nvPr/>
          </p:nvSpPr>
          <p:spPr>
            <a:xfrm flipH="1">
              <a:off x="10668957" y="1265273"/>
              <a:ext cx="668773"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3200">
                  <a:solidFill>
                    <a:srgbClr val="3F3F3F"/>
                  </a:solidFill>
                  <a:latin typeface="Work Sans SemiBold"/>
                  <a:ea typeface="Work Sans SemiBold"/>
                  <a:cs typeface="Work Sans SemiBold"/>
                  <a:sym typeface="Work Sans SemiBold"/>
                </a:rPr>
                <a:t>33</a:t>
              </a:r>
              <a:endParaRPr/>
            </a:p>
          </p:txBody>
        </p:sp>
        <p:sp>
          <p:nvSpPr>
            <p:cNvPr id="251" name="Google Shape;251;p15"/>
            <p:cNvSpPr txBox="1"/>
            <p:nvPr/>
          </p:nvSpPr>
          <p:spPr>
            <a:xfrm flipH="1">
              <a:off x="11139072" y="2512834"/>
              <a:ext cx="696024"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3200">
                  <a:solidFill>
                    <a:srgbClr val="3F3F3F"/>
                  </a:solidFill>
                  <a:latin typeface="Work Sans SemiBold"/>
                  <a:ea typeface="Work Sans SemiBold"/>
                  <a:cs typeface="Work Sans SemiBold"/>
                  <a:sym typeface="Work Sans SemiBold"/>
                </a:rPr>
                <a:t>64</a:t>
              </a:r>
              <a:endParaRPr/>
            </a:p>
          </p:txBody>
        </p:sp>
        <p:sp>
          <p:nvSpPr>
            <p:cNvPr id="252" name="Google Shape;252;p15"/>
            <p:cNvSpPr txBox="1"/>
            <p:nvPr/>
          </p:nvSpPr>
          <p:spPr>
            <a:xfrm flipH="1">
              <a:off x="10209901" y="3760394"/>
              <a:ext cx="69121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3200">
                  <a:solidFill>
                    <a:srgbClr val="3F3F3F"/>
                  </a:solidFill>
                  <a:latin typeface="Work Sans SemiBold"/>
                  <a:ea typeface="Work Sans SemiBold"/>
                  <a:cs typeface="Work Sans SemiBold"/>
                  <a:sym typeface="Work Sans SemiBold"/>
                </a:rPr>
                <a:t>68</a:t>
              </a:r>
              <a:endParaRPr/>
            </a:p>
          </p:txBody>
        </p:sp>
        <p:sp>
          <p:nvSpPr>
            <p:cNvPr id="253" name="Google Shape;253;p15"/>
            <p:cNvSpPr txBox="1"/>
            <p:nvPr/>
          </p:nvSpPr>
          <p:spPr>
            <a:xfrm flipH="1">
              <a:off x="10934620" y="5007955"/>
              <a:ext cx="6832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3200">
                  <a:solidFill>
                    <a:srgbClr val="3F3F3F"/>
                  </a:solidFill>
                  <a:latin typeface="Work Sans SemiBold"/>
                  <a:ea typeface="Work Sans SemiBold"/>
                  <a:cs typeface="Work Sans SemiBold"/>
                  <a:sym typeface="Work Sans SemiBold"/>
                </a:rPr>
                <a:t>45</a:t>
              </a:r>
              <a:endParaRPr/>
            </a:p>
          </p:txBody>
        </p:sp>
        <p:sp>
          <p:nvSpPr>
            <p:cNvPr id="254" name="Google Shape;254;p15"/>
            <p:cNvSpPr txBox="1"/>
            <p:nvPr/>
          </p:nvSpPr>
          <p:spPr>
            <a:xfrm flipH="1">
              <a:off x="9990899" y="6255513"/>
              <a:ext cx="596638"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3200">
                  <a:solidFill>
                    <a:srgbClr val="3F3F3F"/>
                  </a:solidFill>
                  <a:latin typeface="Work Sans SemiBold"/>
                  <a:ea typeface="Work Sans SemiBold"/>
                  <a:cs typeface="Work Sans SemiBold"/>
                  <a:sym typeface="Work Sans SemiBold"/>
                </a:rPr>
                <a:t>17</a:t>
              </a:r>
              <a:endParaRPr/>
            </a:p>
          </p:txBody>
        </p:sp>
      </p:grpSp>
      <p:sp>
        <p:nvSpPr>
          <p:cNvPr id="255" name="Google Shape;255;p15"/>
          <p:cNvSpPr txBox="1"/>
          <p:nvPr/>
        </p:nvSpPr>
        <p:spPr>
          <a:xfrm>
            <a:off x="2941214" y="2469365"/>
            <a:ext cx="630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t/>
            </a:r>
            <a:endParaRPr sz="1800">
              <a:solidFill>
                <a:schemeClr val="lt1"/>
              </a:solidFill>
              <a:latin typeface="Open Sans"/>
              <a:ea typeface="Open Sans"/>
              <a:cs typeface="Open Sans"/>
              <a:sym typeface="Open Sans"/>
            </a:endParaRPr>
          </a:p>
        </p:txBody>
      </p:sp>
      <p:sp>
        <p:nvSpPr>
          <p:cNvPr id="256" name="Google Shape;256;p15"/>
          <p:cNvSpPr txBox="1"/>
          <p:nvPr/>
        </p:nvSpPr>
        <p:spPr>
          <a:xfrm>
            <a:off x="2180550" y="2092325"/>
            <a:ext cx="7660200" cy="4066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b="1" lang="en-IN" sz="1600">
                <a:solidFill>
                  <a:schemeClr val="lt1"/>
                </a:solidFill>
                <a:latin typeface="Open Sans"/>
                <a:ea typeface="Open Sans"/>
                <a:cs typeface="Open Sans"/>
                <a:sym typeface="Open Sans"/>
              </a:rPr>
              <a:t>Perspective in Favor of Strict Regulations</a:t>
            </a:r>
            <a:endParaRPr b="1" sz="1600">
              <a:solidFill>
                <a:schemeClr val="lt1"/>
              </a:solidFill>
              <a:latin typeface="Open Sans"/>
              <a:ea typeface="Open Sans"/>
              <a:cs typeface="Open Sans"/>
              <a:sym typeface="Open Sans"/>
            </a:endParaRPr>
          </a:p>
          <a:p>
            <a:pPr indent="-330200" lvl="0" marL="457200" rtl="0" algn="l">
              <a:lnSpc>
                <a:spcPct val="115000"/>
              </a:lnSpc>
              <a:spcBef>
                <a:spcPts val="0"/>
              </a:spcBef>
              <a:spcAft>
                <a:spcPts val="0"/>
              </a:spcAft>
              <a:buClr>
                <a:schemeClr val="lt1"/>
              </a:buClr>
              <a:buSzPts val="1600"/>
              <a:buFont typeface="Open Sans"/>
              <a:buChar char="●"/>
            </a:pPr>
            <a:r>
              <a:rPr lang="en-IN" sz="1600">
                <a:solidFill>
                  <a:schemeClr val="lt1"/>
                </a:solidFill>
                <a:latin typeface="Open Sans"/>
                <a:ea typeface="Open Sans"/>
                <a:cs typeface="Open Sans"/>
                <a:sym typeface="Open Sans"/>
              </a:rPr>
              <a:t>Focus on the need for comprehensive regulatory measures and proactive strategies.</a:t>
            </a:r>
            <a:endParaRPr sz="1600">
              <a:solidFill>
                <a:schemeClr val="lt1"/>
              </a:solidFill>
              <a:latin typeface="Open Sans"/>
              <a:ea typeface="Open Sans"/>
              <a:cs typeface="Open Sans"/>
              <a:sym typeface="Open Sans"/>
            </a:endParaRPr>
          </a:p>
          <a:p>
            <a:pPr indent="-330200" lvl="0" marL="457200" rtl="0" algn="l">
              <a:lnSpc>
                <a:spcPct val="115000"/>
              </a:lnSpc>
              <a:spcBef>
                <a:spcPts val="0"/>
              </a:spcBef>
              <a:spcAft>
                <a:spcPts val="0"/>
              </a:spcAft>
              <a:buClr>
                <a:schemeClr val="lt1"/>
              </a:buClr>
              <a:buSzPts val="1600"/>
              <a:buFont typeface="Open Sans"/>
              <a:buChar char="●"/>
            </a:pPr>
            <a:r>
              <a:rPr lang="en-IN" sz="1600">
                <a:solidFill>
                  <a:schemeClr val="lt1"/>
                </a:solidFill>
                <a:latin typeface="Open Sans"/>
                <a:ea typeface="Open Sans"/>
                <a:cs typeface="Open Sans"/>
                <a:sym typeface="Open Sans"/>
              </a:rPr>
              <a:t>Emphasizes potential harm of gambling on young people, including addiction, financial loss, and negative social consequences.</a:t>
            </a:r>
            <a:endParaRPr sz="1600">
              <a:solidFill>
                <a:schemeClr val="lt1"/>
              </a:solidFill>
              <a:latin typeface="Open Sans"/>
              <a:ea typeface="Open Sans"/>
              <a:cs typeface="Open Sans"/>
              <a:sym typeface="Open Sans"/>
            </a:endParaRPr>
          </a:p>
          <a:p>
            <a:pPr indent="-330200" lvl="0" marL="457200" rtl="0" algn="l">
              <a:lnSpc>
                <a:spcPct val="115000"/>
              </a:lnSpc>
              <a:spcBef>
                <a:spcPts val="0"/>
              </a:spcBef>
              <a:spcAft>
                <a:spcPts val="0"/>
              </a:spcAft>
              <a:buClr>
                <a:schemeClr val="lt1"/>
              </a:buClr>
              <a:buSzPts val="1600"/>
              <a:buFont typeface="Open Sans"/>
              <a:buChar char="●"/>
            </a:pPr>
            <a:r>
              <a:rPr lang="en-IN" sz="1600">
                <a:solidFill>
                  <a:schemeClr val="lt1"/>
                </a:solidFill>
                <a:latin typeface="Open Sans"/>
                <a:ea typeface="Open Sans"/>
                <a:cs typeface="Open Sans"/>
                <a:sym typeface="Open Sans"/>
              </a:rPr>
              <a:t>Increased risk of developing gambling addiction, which can have long-lasting consequences on mental health and well-being.</a:t>
            </a:r>
            <a:endParaRPr sz="1600">
              <a:solidFill>
                <a:schemeClr val="lt1"/>
              </a:solidFill>
              <a:latin typeface="Open Sans"/>
              <a:ea typeface="Open Sans"/>
              <a:cs typeface="Open Sans"/>
              <a:sym typeface="Open Sans"/>
            </a:endParaRPr>
          </a:p>
          <a:p>
            <a:pPr indent="-330200" lvl="0" marL="457200" rtl="0" algn="l">
              <a:lnSpc>
                <a:spcPct val="115000"/>
              </a:lnSpc>
              <a:spcBef>
                <a:spcPts val="0"/>
              </a:spcBef>
              <a:spcAft>
                <a:spcPts val="0"/>
              </a:spcAft>
              <a:buClr>
                <a:schemeClr val="lt1"/>
              </a:buClr>
              <a:buSzPts val="1600"/>
              <a:buFont typeface="Open Sans"/>
              <a:buChar char="●"/>
            </a:pPr>
            <a:r>
              <a:rPr lang="en-IN" sz="1600">
                <a:solidFill>
                  <a:schemeClr val="lt1"/>
                </a:solidFill>
                <a:latin typeface="Open Sans"/>
                <a:ea typeface="Open Sans"/>
                <a:cs typeface="Open Sans"/>
                <a:sym typeface="Open Sans"/>
              </a:rPr>
              <a:t>Elevated risk of engaging in other risky behaviors, such as substance abuse and delinquency, due to association with gambling environments.</a:t>
            </a:r>
            <a:endParaRPr sz="1600">
              <a:solidFill>
                <a:schemeClr val="lt1"/>
              </a:solidFill>
              <a:latin typeface="Open Sans"/>
              <a:ea typeface="Open Sans"/>
              <a:cs typeface="Open Sans"/>
              <a:sym typeface="Open Sans"/>
            </a:endParaRPr>
          </a:p>
          <a:p>
            <a:pPr indent="-330200" lvl="0" marL="457200" rtl="0" algn="l">
              <a:lnSpc>
                <a:spcPct val="115000"/>
              </a:lnSpc>
              <a:spcBef>
                <a:spcPts val="0"/>
              </a:spcBef>
              <a:spcAft>
                <a:spcPts val="0"/>
              </a:spcAft>
              <a:buClr>
                <a:schemeClr val="lt1"/>
              </a:buClr>
              <a:buSzPts val="1600"/>
              <a:buFont typeface="Open Sans"/>
              <a:buChar char="●"/>
            </a:pPr>
            <a:r>
              <a:rPr lang="en-IN" sz="1600">
                <a:solidFill>
                  <a:schemeClr val="lt1"/>
                </a:solidFill>
                <a:latin typeface="Open Sans"/>
                <a:ea typeface="Open Sans"/>
                <a:cs typeface="Open Sans"/>
                <a:sym typeface="Open Sans"/>
              </a:rPr>
              <a:t>Strained relationships with family and peers, as gambling addiction can lead to deception, loss of trust, and social isolation.</a:t>
            </a:r>
            <a:endParaRPr sz="1600">
              <a:solidFill>
                <a:schemeClr val="lt1"/>
              </a:solidFill>
              <a:latin typeface="Open Sans"/>
              <a:ea typeface="Open Sans"/>
              <a:cs typeface="Open Sans"/>
              <a:sym typeface="Open Sans"/>
            </a:endParaRPr>
          </a:p>
          <a:p>
            <a:pPr indent="-330200" lvl="0" marL="457200" rtl="0" algn="l">
              <a:lnSpc>
                <a:spcPct val="115000"/>
              </a:lnSpc>
              <a:spcBef>
                <a:spcPts val="0"/>
              </a:spcBef>
              <a:spcAft>
                <a:spcPts val="0"/>
              </a:spcAft>
              <a:buClr>
                <a:schemeClr val="lt1"/>
              </a:buClr>
              <a:buSzPts val="1600"/>
              <a:buFont typeface="Open Sans"/>
              <a:buChar char="●"/>
            </a:pPr>
            <a:r>
              <a:rPr lang="en-IN" sz="1600">
                <a:solidFill>
                  <a:schemeClr val="lt1"/>
                </a:solidFill>
                <a:latin typeface="Open Sans"/>
                <a:ea typeface="Open Sans"/>
                <a:cs typeface="Open Sans"/>
                <a:sym typeface="Open Sans"/>
              </a:rPr>
              <a:t>Long-term implications for future employment and career prospects, as gambling addiction can interfere with job stability and performance.</a:t>
            </a:r>
            <a:endParaRPr sz="1600">
              <a:solidFill>
                <a:schemeClr val="lt1"/>
              </a:solidFill>
              <a:latin typeface="Open Sans"/>
              <a:ea typeface="Open Sans"/>
              <a:cs typeface="Open Sans"/>
              <a:sym typeface="Open Sans"/>
            </a:endParaRPr>
          </a:p>
          <a:p>
            <a:pPr indent="0" lvl="0" marL="457200" rtl="0" algn="l">
              <a:lnSpc>
                <a:spcPct val="150000"/>
              </a:lnSpc>
              <a:spcBef>
                <a:spcPts val="0"/>
              </a:spcBef>
              <a:spcAft>
                <a:spcPts val="0"/>
              </a:spcAft>
              <a:buNone/>
            </a:pPr>
            <a:r>
              <a:t/>
            </a:r>
            <a:endParaRPr sz="1300">
              <a:solidFill>
                <a:schemeClr val="lt1"/>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6"/>
          <p:cNvSpPr/>
          <p:nvPr/>
        </p:nvSpPr>
        <p:spPr>
          <a:xfrm>
            <a:off x="4064000" y="839492"/>
            <a:ext cx="4064000" cy="744228"/>
          </a:xfrm>
          <a:prstGeom prst="roundRect">
            <a:avLst>
              <a:gd fmla="val 34042" name="adj"/>
            </a:avLst>
          </a:prstGeom>
          <a:solidFill>
            <a:srgbClr val="0F4E93"/>
          </a:solidFill>
          <a:ln cap="flat" cmpd="sng" w="25400">
            <a:solidFill>
              <a:srgbClr val="0180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 name="Google Shape;262;p16"/>
          <p:cNvSpPr txBox="1"/>
          <p:nvPr/>
        </p:nvSpPr>
        <p:spPr>
          <a:xfrm>
            <a:off x="4478417" y="949996"/>
            <a:ext cx="3235181"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IN" sz="2800">
                <a:solidFill>
                  <a:schemeClr val="lt1"/>
                </a:solidFill>
                <a:latin typeface="Work Sans ExtraBold"/>
                <a:ea typeface="Work Sans ExtraBold"/>
                <a:cs typeface="Work Sans ExtraBold"/>
                <a:sym typeface="Work Sans ExtraBold"/>
              </a:rPr>
              <a:t>2 Perspective</a:t>
            </a:r>
            <a:endParaRPr/>
          </a:p>
        </p:txBody>
      </p:sp>
      <p:sp>
        <p:nvSpPr>
          <p:cNvPr id="263" name="Google Shape;263;p16"/>
          <p:cNvSpPr txBox="1"/>
          <p:nvPr/>
        </p:nvSpPr>
        <p:spPr>
          <a:xfrm>
            <a:off x="5398599" y="1647061"/>
            <a:ext cx="15471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IN" sz="2000">
                <a:solidFill>
                  <a:schemeClr val="lt1"/>
                </a:solidFill>
                <a:latin typeface="Work Sans ExtraBold"/>
                <a:ea typeface="Work Sans ExtraBold"/>
                <a:cs typeface="Work Sans ExtraBold"/>
                <a:sym typeface="Work Sans ExtraBold"/>
              </a:rPr>
              <a:t>EASY PICK</a:t>
            </a:r>
            <a:endParaRPr/>
          </a:p>
        </p:txBody>
      </p:sp>
      <p:sp>
        <p:nvSpPr>
          <p:cNvPr id="264" name="Google Shape;264;p16"/>
          <p:cNvSpPr txBox="1"/>
          <p:nvPr/>
        </p:nvSpPr>
        <p:spPr>
          <a:xfrm>
            <a:off x="1060425" y="2128825"/>
            <a:ext cx="9864900" cy="38742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None/>
            </a:pPr>
            <a:r>
              <a:rPr b="1" lang="en-IN" sz="1800">
                <a:solidFill>
                  <a:schemeClr val="lt1"/>
                </a:solidFill>
                <a:latin typeface="Open Sans"/>
                <a:ea typeface="Open Sans"/>
                <a:cs typeface="Open Sans"/>
                <a:sym typeface="Open Sans"/>
              </a:rPr>
              <a:t>Perspective Against Strict Regulations</a:t>
            </a:r>
            <a:endParaRPr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Char char="•"/>
            </a:pPr>
            <a:r>
              <a:rPr lang="en-IN" sz="1800">
                <a:solidFill>
                  <a:schemeClr val="lt1"/>
                </a:solidFill>
                <a:latin typeface="Open Sans"/>
                <a:ea typeface="Open Sans"/>
                <a:cs typeface="Open Sans"/>
                <a:sym typeface="Open Sans"/>
              </a:rPr>
              <a:t>Courts may argue that because players receive in-game items of value, these practices don't meet the legal definition of gambling.</a:t>
            </a:r>
            <a:endParaRPr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Char char="•"/>
            </a:pPr>
            <a:r>
              <a:rPr lang="en-IN" sz="1800">
                <a:solidFill>
                  <a:schemeClr val="lt1"/>
                </a:solidFill>
                <a:latin typeface="Open Sans"/>
                <a:ea typeface="Open Sans"/>
                <a:cs typeface="Open Sans"/>
                <a:sym typeface="Open Sans"/>
              </a:rPr>
              <a:t>Supporters argue that not all chance-based gaming mechanics pose the same level of risk as traditional gambling.</a:t>
            </a:r>
            <a:endParaRPr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Char char="•"/>
            </a:pPr>
            <a:r>
              <a:rPr lang="en-IN" sz="1800">
                <a:solidFill>
                  <a:schemeClr val="lt1"/>
                </a:solidFill>
                <a:latin typeface="Open Sans"/>
                <a:ea typeface="Open Sans"/>
                <a:cs typeface="Open Sans"/>
                <a:sym typeface="Open Sans"/>
              </a:rPr>
              <a:t>They suggest labeling such practices as gambling could lead to unnecessary regulation and limit player enjoyment.</a:t>
            </a:r>
            <a:endParaRPr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Char char="•"/>
            </a:pPr>
            <a:r>
              <a:rPr lang="en-IN" sz="1800">
                <a:solidFill>
                  <a:schemeClr val="lt1"/>
                </a:solidFill>
                <a:latin typeface="Open Sans"/>
                <a:ea typeface="Open Sans"/>
                <a:cs typeface="Open Sans"/>
                <a:sym typeface="Open Sans"/>
              </a:rPr>
              <a:t>Legal interpretations may vary depending on jurisdiction and evolving understandings of gambling-related issues.</a:t>
            </a:r>
            <a:endParaRPr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Char char="•"/>
            </a:pPr>
            <a:r>
              <a:rPr lang="en-IN" sz="1800">
                <a:solidFill>
                  <a:schemeClr val="lt1"/>
                </a:solidFill>
                <a:latin typeface="Open Sans"/>
                <a:ea typeface="Open Sans"/>
                <a:cs typeface="Open Sans"/>
                <a:sym typeface="Open Sans"/>
              </a:rPr>
              <a:t>Despite not meeting the legal definition of gambling, concerns about negative impacts on young people's well-being warrant attention.</a:t>
            </a:r>
            <a:endParaRPr sz="1800">
              <a:solidFill>
                <a:schemeClr val="lt1"/>
              </a:solidFill>
              <a:latin typeface="Open Sans"/>
              <a:ea typeface="Open Sans"/>
              <a:cs typeface="Open Sans"/>
              <a:sym typeface="Open Sans"/>
            </a:endParaRPr>
          </a:p>
          <a:p>
            <a:pPr indent="-285750" lvl="0" marL="285750" marR="0" rtl="0" algn="l">
              <a:lnSpc>
                <a:spcPct val="150000"/>
              </a:lnSpc>
              <a:spcBef>
                <a:spcPts val="0"/>
              </a:spcBef>
              <a:spcAft>
                <a:spcPts val="0"/>
              </a:spcAft>
              <a:buClr>
                <a:schemeClr val="lt1"/>
              </a:buClr>
              <a:buSzPts val="1800"/>
              <a:buFont typeface="Open Sans"/>
              <a:buChar char="•"/>
            </a:pPr>
            <a:r>
              <a:t/>
            </a:r>
            <a:endParaRPr sz="1800">
              <a:solidFill>
                <a:schemeClr val="lt1"/>
              </a:solidFill>
              <a:latin typeface="Open Sans"/>
              <a:ea typeface="Open Sans"/>
              <a:cs typeface="Open Sans"/>
              <a:sym typeface="Open Sans"/>
            </a:endParaRPr>
          </a:p>
        </p:txBody>
      </p:sp>
      <p:pic>
        <p:nvPicPr>
          <p:cNvPr id="265" name="Google Shape;265;p16"/>
          <p:cNvPicPr preferRelativeResize="0"/>
          <p:nvPr/>
        </p:nvPicPr>
        <p:blipFill>
          <a:blip r:embed="rId3">
            <a:alphaModFix/>
          </a:blip>
          <a:stretch>
            <a:fillRect/>
          </a:stretch>
        </p:blipFill>
        <p:spPr>
          <a:xfrm>
            <a:off x="8963950" y="299600"/>
            <a:ext cx="2736036" cy="1824024"/>
          </a:xfrm>
          <a:prstGeom prst="rect">
            <a:avLst/>
          </a:prstGeom>
          <a:noFill/>
          <a:ln>
            <a:noFill/>
          </a:ln>
        </p:spPr>
      </p:pic>
      <p:pic>
        <p:nvPicPr>
          <p:cNvPr id="266" name="Google Shape;266;p16"/>
          <p:cNvPicPr preferRelativeResize="0"/>
          <p:nvPr/>
        </p:nvPicPr>
        <p:blipFill>
          <a:blip r:embed="rId4">
            <a:alphaModFix/>
          </a:blip>
          <a:stretch>
            <a:fillRect/>
          </a:stretch>
        </p:blipFill>
        <p:spPr>
          <a:xfrm>
            <a:off x="152400" y="304800"/>
            <a:ext cx="3242700" cy="19139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7"/>
          <p:cNvSpPr/>
          <p:nvPr/>
        </p:nvSpPr>
        <p:spPr>
          <a:xfrm>
            <a:off x="815266" y="425446"/>
            <a:ext cx="4364100" cy="744300"/>
          </a:xfrm>
          <a:prstGeom prst="roundRect">
            <a:avLst>
              <a:gd fmla="val 34042" name="adj"/>
            </a:avLst>
          </a:prstGeom>
          <a:solidFill>
            <a:srgbClr val="0F4E93"/>
          </a:solidFill>
          <a:ln cap="flat" cmpd="sng" w="25400">
            <a:solidFill>
              <a:srgbClr val="0180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2" name="Google Shape;272;p17"/>
          <p:cNvSpPr txBox="1"/>
          <p:nvPr/>
        </p:nvSpPr>
        <p:spPr>
          <a:xfrm>
            <a:off x="1097578" y="459750"/>
            <a:ext cx="37995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IN" sz="2800">
                <a:solidFill>
                  <a:schemeClr val="lt1"/>
                </a:solidFill>
                <a:latin typeface="Work Sans ExtraBold"/>
                <a:ea typeface="Work Sans ExtraBold"/>
                <a:cs typeface="Work Sans ExtraBold"/>
                <a:sym typeface="Work Sans ExtraBold"/>
              </a:rPr>
              <a:t>3rd Perspective</a:t>
            </a:r>
            <a:endParaRPr/>
          </a:p>
        </p:txBody>
      </p:sp>
      <p:sp>
        <p:nvSpPr>
          <p:cNvPr id="273" name="Google Shape;273;p17"/>
          <p:cNvSpPr txBox="1"/>
          <p:nvPr/>
        </p:nvSpPr>
        <p:spPr>
          <a:xfrm>
            <a:off x="815267" y="2701616"/>
            <a:ext cx="5145000" cy="369300"/>
          </a:xfrm>
          <a:prstGeom prst="rect">
            <a:avLst/>
          </a:prstGeom>
          <a:noFill/>
          <a:ln>
            <a:noFill/>
          </a:ln>
        </p:spPr>
        <p:txBody>
          <a:bodyPr anchorCtr="0" anchor="t" bIns="45700" lIns="91425" spcFirstLastPara="1" rIns="91425" wrap="square" tIns="45700">
            <a:spAutoFit/>
          </a:bodyPr>
          <a:lstStyle/>
          <a:p>
            <a:pPr indent="-171450" lvl="0" marL="285750" marR="0" rtl="0" algn="l">
              <a:lnSpc>
                <a:spcPct val="150000"/>
              </a:lnSpc>
              <a:spcBef>
                <a:spcPts val="0"/>
              </a:spcBef>
              <a:spcAft>
                <a:spcPts val="0"/>
              </a:spcAft>
              <a:buClr>
                <a:schemeClr val="dk1"/>
              </a:buClr>
              <a:buSzPts val="1800"/>
              <a:buFont typeface="Arial"/>
              <a:buNone/>
            </a:pPr>
            <a:r>
              <a:t/>
            </a:r>
            <a:endParaRPr sz="1800">
              <a:solidFill>
                <a:schemeClr val="lt1"/>
              </a:solidFill>
              <a:latin typeface="Open Sans"/>
              <a:ea typeface="Open Sans"/>
              <a:cs typeface="Open Sans"/>
              <a:sym typeface="Open Sans"/>
            </a:endParaRPr>
          </a:p>
        </p:txBody>
      </p:sp>
      <p:sp>
        <p:nvSpPr>
          <p:cNvPr id="274" name="Google Shape;274;p17"/>
          <p:cNvSpPr txBox="1"/>
          <p:nvPr/>
        </p:nvSpPr>
        <p:spPr>
          <a:xfrm>
            <a:off x="7467920" y="1568446"/>
            <a:ext cx="1023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275" name="Google Shape;275;p17"/>
          <p:cNvSpPr txBox="1"/>
          <p:nvPr/>
        </p:nvSpPr>
        <p:spPr>
          <a:xfrm>
            <a:off x="9842943" y="1568446"/>
            <a:ext cx="10230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a:p>
        </p:txBody>
      </p:sp>
      <p:sp>
        <p:nvSpPr>
          <p:cNvPr id="276" name="Google Shape;276;p17"/>
          <p:cNvSpPr txBox="1"/>
          <p:nvPr/>
        </p:nvSpPr>
        <p:spPr>
          <a:xfrm>
            <a:off x="226150" y="1211550"/>
            <a:ext cx="9693000" cy="462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IN" sz="1600">
                <a:solidFill>
                  <a:schemeClr val="lt1"/>
                </a:solidFill>
                <a:latin typeface="Open Sans"/>
                <a:ea typeface="Open Sans"/>
                <a:cs typeface="Open Sans"/>
                <a:sym typeface="Open Sans"/>
              </a:rPr>
              <a:t>Perspective On It's Already Illegal </a:t>
            </a:r>
            <a:endParaRPr b="1" sz="1600">
              <a:solidFill>
                <a:schemeClr val="lt1"/>
              </a:solidFill>
              <a:latin typeface="Open Sans"/>
              <a:ea typeface="Open Sans"/>
              <a:cs typeface="Open Sans"/>
              <a:sym typeface="Open Sans"/>
            </a:endParaRPr>
          </a:p>
          <a:p>
            <a:pPr indent="-336550" lvl="0" marL="457200" rtl="0" algn="l">
              <a:lnSpc>
                <a:spcPct val="115000"/>
              </a:lnSpc>
              <a:spcBef>
                <a:spcPts val="0"/>
              </a:spcBef>
              <a:spcAft>
                <a:spcPts val="0"/>
              </a:spcAft>
              <a:buClr>
                <a:schemeClr val="lt1"/>
              </a:buClr>
              <a:buSzPts val="1700"/>
              <a:buFont typeface="Open Sans"/>
              <a:buChar char="●"/>
            </a:pPr>
            <a:r>
              <a:rPr lang="en-IN" sz="1700">
                <a:solidFill>
                  <a:schemeClr val="lt1"/>
                </a:solidFill>
                <a:latin typeface="Open Sans"/>
                <a:ea typeface="Open Sans"/>
                <a:cs typeface="Open Sans"/>
                <a:sym typeface="Open Sans"/>
              </a:rPr>
              <a:t>Views youth gambling as a manifestation of a broader societal problem.</a:t>
            </a:r>
            <a:endParaRPr sz="1700">
              <a:solidFill>
                <a:schemeClr val="lt1"/>
              </a:solidFill>
              <a:latin typeface="Open Sans"/>
              <a:ea typeface="Open Sans"/>
              <a:cs typeface="Open Sans"/>
              <a:sym typeface="Open Sans"/>
            </a:endParaRPr>
          </a:p>
          <a:p>
            <a:pPr indent="-336550" lvl="0" marL="457200" rtl="0" algn="l">
              <a:lnSpc>
                <a:spcPct val="115000"/>
              </a:lnSpc>
              <a:spcBef>
                <a:spcPts val="0"/>
              </a:spcBef>
              <a:spcAft>
                <a:spcPts val="0"/>
              </a:spcAft>
              <a:buClr>
                <a:schemeClr val="lt1"/>
              </a:buClr>
              <a:buSzPts val="1700"/>
              <a:buFont typeface="Open Sans"/>
              <a:buChar char="●"/>
            </a:pPr>
            <a:r>
              <a:rPr lang="en-IN" sz="1700">
                <a:solidFill>
                  <a:schemeClr val="lt1"/>
                </a:solidFill>
                <a:latin typeface="Open Sans"/>
                <a:ea typeface="Open Sans"/>
                <a:cs typeface="Open Sans"/>
                <a:sym typeface="Open Sans"/>
              </a:rPr>
              <a:t>Considers the prevalence of underage gambling as a failure of regulatory and legal mechanisms to adequately address the issue.</a:t>
            </a:r>
            <a:endParaRPr sz="1700">
              <a:solidFill>
                <a:schemeClr val="lt1"/>
              </a:solidFill>
              <a:latin typeface="Open Sans"/>
              <a:ea typeface="Open Sans"/>
              <a:cs typeface="Open Sans"/>
              <a:sym typeface="Open Sans"/>
            </a:endParaRPr>
          </a:p>
          <a:p>
            <a:pPr indent="-336550" lvl="0" marL="457200" rtl="0" algn="l">
              <a:lnSpc>
                <a:spcPct val="115000"/>
              </a:lnSpc>
              <a:spcBef>
                <a:spcPts val="0"/>
              </a:spcBef>
              <a:spcAft>
                <a:spcPts val="0"/>
              </a:spcAft>
              <a:buClr>
                <a:schemeClr val="lt1"/>
              </a:buClr>
              <a:buSzPts val="1700"/>
              <a:buFont typeface="Open Sans"/>
              <a:buChar char="●"/>
            </a:pPr>
            <a:r>
              <a:rPr lang="en-IN" sz="1700">
                <a:solidFill>
                  <a:schemeClr val="lt1"/>
                </a:solidFill>
                <a:latin typeface="Open Sans"/>
                <a:ea typeface="Open Sans"/>
                <a:cs typeface="Open Sans"/>
                <a:sym typeface="Open Sans"/>
              </a:rPr>
              <a:t>Argues that the persistence of youth gambling despite existing regulations indicates systemic weaknesses in enforcement and oversight.</a:t>
            </a:r>
            <a:endParaRPr sz="1700">
              <a:solidFill>
                <a:schemeClr val="lt1"/>
              </a:solidFill>
              <a:latin typeface="Open Sans"/>
              <a:ea typeface="Open Sans"/>
              <a:cs typeface="Open Sans"/>
              <a:sym typeface="Open Sans"/>
            </a:endParaRPr>
          </a:p>
          <a:p>
            <a:pPr indent="-336550" lvl="0" marL="457200" rtl="0" algn="l">
              <a:lnSpc>
                <a:spcPct val="115000"/>
              </a:lnSpc>
              <a:spcBef>
                <a:spcPts val="0"/>
              </a:spcBef>
              <a:spcAft>
                <a:spcPts val="0"/>
              </a:spcAft>
              <a:buClr>
                <a:schemeClr val="lt1"/>
              </a:buClr>
              <a:buSzPts val="1700"/>
              <a:buFont typeface="Open Sans"/>
              <a:buChar char="●"/>
            </a:pPr>
            <a:r>
              <a:rPr lang="en-IN" sz="1700">
                <a:solidFill>
                  <a:schemeClr val="lt1"/>
                </a:solidFill>
                <a:latin typeface="Open Sans"/>
                <a:ea typeface="Open Sans"/>
                <a:cs typeface="Open Sans"/>
                <a:sym typeface="Open Sans"/>
              </a:rPr>
              <a:t>Highlights the need for more stringent enforcement of existing laws and regulations to combat illegal gambling activities targeting young people.</a:t>
            </a:r>
            <a:endParaRPr sz="1700">
              <a:solidFill>
                <a:schemeClr val="lt1"/>
              </a:solidFill>
              <a:latin typeface="Open Sans"/>
              <a:ea typeface="Open Sans"/>
              <a:cs typeface="Open Sans"/>
              <a:sym typeface="Open Sans"/>
            </a:endParaRPr>
          </a:p>
          <a:p>
            <a:pPr indent="-336550" lvl="0" marL="457200" rtl="0" algn="l">
              <a:lnSpc>
                <a:spcPct val="115000"/>
              </a:lnSpc>
              <a:spcBef>
                <a:spcPts val="0"/>
              </a:spcBef>
              <a:spcAft>
                <a:spcPts val="0"/>
              </a:spcAft>
              <a:buClr>
                <a:schemeClr val="lt1"/>
              </a:buClr>
              <a:buSzPts val="1700"/>
              <a:buFont typeface="Open Sans"/>
              <a:buChar char="●"/>
            </a:pPr>
            <a:r>
              <a:rPr lang="en-IN" sz="1700">
                <a:solidFill>
                  <a:schemeClr val="lt1"/>
                </a:solidFill>
                <a:latin typeface="Open Sans"/>
                <a:ea typeface="Open Sans"/>
                <a:cs typeface="Open Sans"/>
                <a:sym typeface="Open Sans"/>
              </a:rPr>
              <a:t>Advocates for increased collaboration between law enforcement agencies, regulatory bodies, and community stakeholders to identify and prosecute perpetrators of illegal gambling operations.</a:t>
            </a:r>
            <a:endParaRPr sz="1700">
              <a:solidFill>
                <a:schemeClr val="lt1"/>
              </a:solidFill>
              <a:latin typeface="Open Sans"/>
              <a:ea typeface="Open Sans"/>
              <a:cs typeface="Open Sans"/>
              <a:sym typeface="Open Sans"/>
            </a:endParaRPr>
          </a:p>
          <a:p>
            <a:pPr indent="-336550" lvl="0" marL="457200" rtl="0" algn="l">
              <a:lnSpc>
                <a:spcPct val="115000"/>
              </a:lnSpc>
              <a:spcBef>
                <a:spcPts val="0"/>
              </a:spcBef>
              <a:spcAft>
                <a:spcPts val="0"/>
              </a:spcAft>
              <a:buClr>
                <a:schemeClr val="lt1"/>
              </a:buClr>
              <a:buSzPts val="1700"/>
              <a:buFont typeface="Open Sans"/>
              <a:buChar char="●"/>
            </a:pPr>
            <a:r>
              <a:rPr lang="en-IN" sz="1700">
                <a:solidFill>
                  <a:schemeClr val="lt1"/>
                </a:solidFill>
                <a:latin typeface="Open Sans"/>
                <a:ea typeface="Open Sans"/>
                <a:cs typeface="Open Sans"/>
                <a:sym typeface="Open Sans"/>
              </a:rPr>
              <a:t>Emphasizes the importance of public awareness campaigns to educate young people about the risks and consequences of illegal gambling and to promote alternative recreational activities.</a:t>
            </a:r>
            <a:endParaRPr sz="1700">
              <a:solidFill>
                <a:schemeClr val="lt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sz="1600">
              <a:solidFill>
                <a:schemeClr val="lt1"/>
              </a:solidFill>
              <a:latin typeface="Open Sans"/>
              <a:ea typeface="Open Sans"/>
              <a:cs typeface="Open Sans"/>
              <a:sym typeface="Open Sans"/>
            </a:endParaRPr>
          </a:p>
        </p:txBody>
      </p:sp>
      <p:pic>
        <p:nvPicPr>
          <p:cNvPr id="277" name="Google Shape;277;p17"/>
          <p:cNvPicPr preferRelativeResize="0"/>
          <p:nvPr/>
        </p:nvPicPr>
        <p:blipFill>
          <a:blip r:embed="rId3">
            <a:alphaModFix/>
          </a:blip>
          <a:stretch>
            <a:fillRect/>
          </a:stretch>
        </p:blipFill>
        <p:spPr>
          <a:xfrm>
            <a:off x="9625850" y="4281025"/>
            <a:ext cx="2261350" cy="2229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8"/>
          <p:cNvSpPr/>
          <p:nvPr/>
        </p:nvSpPr>
        <p:spPr>
          <a:xfrm>
            <a:off x="4064000" y="839492"/>
            <a:ext cx="4064100" cy="744300"/>
          </a:xfrm>
          <a:prstGeom prst="roundRect">
            <a:avLst>
              <a:gd fmla="val 34042" name="adj"/>
            </a:avLst>
          </a:prstGeom>
          <a:solidFill>
            <a:srgbClr val="0F4E93"/>
          </a:solidFill>
          <a:ln cap="flat" cmpd="sng" w="25400">
            <a:solidFill>
              <a:srgbClr val="0180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p18"/>
          <p:cNvSpPr txBox="1"/>
          <p:nvPr/>
        </p:nvSpPr>
        <p:spPr>
          <a:xfrm>
            <a:off x="4478417" y="949996"/>
            <a:ext cx="32352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IN" sz="2800">
                <a:solidFill>
                  <a:schemeClr val="lt1"/>
                </a:solidFill>
                <a:latin typeface="Work Sans ExtraBold"/>
                <a:ea typeface="Work Sans ExtraBold"/>
                <a:cs typeface="Work Sans ExtraBold"/>
                <a:sym typeface="Work Sans ExtraBold"/>
              </a:rPr>
              <a:t>Solution</a:t>
            </a:r>
            <a:endParaRPr/>
          </a:p>
        </p:txBody>
      </p:sp>
      <p:sp>
        <p:nvSpPr>
          <p:cNvPr id="284" name="Google Shape;284;p18"/>
          <p:cNvSpPr txBox="1"/>
          <p:nvPr/>
        </p:nvSpPr>
        <p:spPr>
          <a:xfrm>
            <a:off x="5398599" y="1647061"/>
            <a:ext cx="15471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IN" sz="2000">
                <a:solidFill>
                  <a:schemeClr val="lt1"/>
                </a:solidFill>
                <a:latin typeface="Work Sans ExtraBold"/>
                <a:ea typeface="Work Sans ExtraBold"/>
                <a:cs typeface="Work Sans ExtraBold"/>
                <a:sym typeface="Work Sans ExtraBold"/>
              </a:rPr>
              <a:t>EASY FIX?</a:t>
            </a:r>
            <a:endParaRPr/>
          </a:p>
        </p:txBody>
      </p:sp>
      <p:sp>
        <p:nvSpPr>
          <p:cNvPr id="285" name="Google Shape;285;p18"/>
          <p:cNvSpPr txBox="1"/>
          <p:nvPr/>
        </p:nvSpPr>
        <p:spPr>
          <a:xfrm>
            <a:off x="1060425" y="2128825"/>
            <a:ext cx="9864900" cy="39543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None/>
            </a:pPr>
            <a:r>
              <a:rPr b="1" lang="en-IN" sz="1600">
                <a:solidFill>
                  <a:schemeClr val="lt1"/>
                </a:solidFill>
                <a:latin typeface="Open Sans"/>
                <a:ea typeface="Open Sans"/>
                <a:cs typeface="Open Sans"/>
                <a:sym typeface="Open Sans"/>
              </a:rPr>
              <a:t>Solutions to Address Youth Gambling</a:t>
            </a:r>
            <a:endParaRPr sz="1600">
              <a:solidFill>
                <a:schemeClr val="lt1"/>
              </a:solidFill>
              <a:latin typeface="Open Sans"/>
              <a:ea typeface="Open Sans"/>
              <a:cs typeface="Open Sans"/>
              <a:sym typeface="Open Sans"/>
            </a:endParaRPr>
          </a:p>
          <a:p>
            <a:pPr indent="-330200" lvl="0" marL="457200" rtl="0" algn="l">
              <a:lnSpc>
                <a:spcPct val="115000"/>
              </a:lnSpc>
              <a:spcBef>
                <a:spcPts val="0"/>
              </a:spcBef>
              <a:spcAft>
                <a:spcPts val="0"/>
              </a:spcAft>
              <a:buClr>
                <a:schemeClr val="lt1"/>
              </a:buClr>
              <a:buSzPts val="1600"/>
              <a:buChar char="•"/>
            </a:pPr>
            <a:r>
              <a:rPr lang="en-IN" sz="1600">
                <a:solidFill>
                  <a:schemeClr val="lt1"/>
                </a:solidFill>
                <a:latin typeface="Open Sans"/>
                <a:ea typeface="Open Sans"/>
                <a:cs typeface="Open Sans"/>
                <a:sym typeface="Open Sans"/>
              </a:rPr>
              <a:t>Proposes stricter age verification measures on online gambling platforms</a:t>
            </a:r>
            <a:endParaRPr sz="1600">
              <a:solidFill>
                <a:schemeClr val="lt1"/>
              </a:solidFill>
              <a:latin typeface="Open Sans"/>
              <a:ea typeface="Open Sans"/>
              <a:cs typeface="Open Sans"/>
              <a:sym typeface="Open Sans"/>
            </a:endParaRPr>
          </a:p>
          <a:p>
            <a:pPr indent="-330200" lvl="0" marL="457200" rtl="0" algn="l">
              <a:lnSpc>
                <a:spcPct val="115000"/>
              </a:lnSpc>
              <a:spcBef>
                <a:spcPts val="0"/>
              </a:spcBef>
              <a:spcAft>
                <a:spcPts val="0"/>
              </a:spcAft>
              <a:buClr>
                <a:schemeClr val="lt1"/>
              </a:buClr>
              <a:buSzPts val="1600"/>
              <a:buChar char="•"/>
            </a:pPr>
            <a:r>
              <a:rPr lang="en-IN" sz="1600">
                <a:solidFill>
                  <a:schemeClr val="lt1"/>
                </a:solidFill>
                <a:latin typeface="Open Sans"/>
                <a:ea typeface="Open Sans"/>
                <a:cs typeface="Open Sans"/>
                <a:sym typeface="Open Sans"/>
              </a:rPr>
              <a:t>Advocates for the implementation of mandatory warnings and age restrictions on video games containing gambling elements, ensuring they are clearly labeled and inaccessible to minors.</a:t>
            </a:r>
            <a:endParaRPr sz="1600">
              <a:solidFill>
                <a:schemeClr val="lt1"/>
              </a:solidFill>
              <a:latin typeface="Open Sans"/>
              <a:ea typeface="Open Sans"/>
              <a:cs typeface="Open Sans"/>
              <a:sym typeface="Open Sans"/>
            </a:endParaRPr>
          </a:p>
          <a:p>
            <a:pPr indent="-330200" lvl="0" marL="457200" rtl="0" algn="l">
              <a:lnSpc>
                <a:spcPct val="115000"/>
              </a:lnSpc>
              <a:spcBef>
                <a:spcPts val="0"/>
              </a:spcBef>
              <a:spcAft>
                <a:spcPts val="0"/>
              </a:spcAft>
              <a:buClr>
                <a:schemeClr val="lt1"/>
              </a:buClr>
              <a:buSzPts val="1600"/>
              <a:buChar char="•"/>
            </a:pPr>
            <a:r>
              <a:rPr lang="en-IN" sz="1600">
                <a:solidFill>
                  <a:schemeClr val="lt1"/>
                </a:solidFill>
                <a:latin typeface="Open Sans"/>
                <a:ea typeface="Open Sans"/>
                <a:cs typeface="Open Sans"/>
                <a:sym typeface="Open Sans"/>
              </a:rPr>
              <a:t>Gambling education programs into school curricula, covering topics such as risk awareness, decision-making skills, and coping strategies to resist gambling temptations.</a:t>
            </a:r>
            <a:endParaRPr sz="1600">
              <a:solidFill>
                <a:schemeClr val="lt1"/>
              </a:solidFill>
              <a:latin typeface="Open Sans"/>
              <a:ea typeface="Open Sans"/>
              <a:cs typeface="Open Sans"/>
              <a:sym typeface="Open Sans"/>
            </a:endParaRPr>
          </a:p>
          <a:p>
            <a:pPr indent="-330200" lvl="0" marL="457200" rtl="0" algn="l">
              <a:lnSpc>
                <a:spcPct val="115000"/>
              </a:lnSpc>
              <a:spcBef>
                <a:spcPts val="0"/>
              </a:spcBef>
              <a:spcAft>
                <a:spcPts val="0"/>
              </a:spcAft>
              <a:buClr>
                <a:schemeClr val="lt1"/>
              </a:buClr>
              <a:buSzPts val="1600"/>
              <a:buChar char="•"/>
            </a:pPr>
            <a:r>
              <a:rPr lang="en-IN" sz="1600">
                <a:solidFill>
                  <a:schemeClr val="lt1"/>
                </a:solidFill>
                <a:latin typeface="Open Sans"/>
                <a:ea typeface="Open Sans"/>
                <a:cs typeface="Open Sans"/>
                <a:sym typeface="Open Sans"/>
              </a:rPr>
              <a:t>Specialized treatment centers for youth gambling addiction</a:t>
            </a:r>
            <a:br>
              <a:rPr lang="en-IN" sz="1600">
                <a:solidFill>
                  <a:schemeClr val="lt1"/>
                </a:solidFill>
                <a:latin typeface="Open Sans"/>
                <a:ea typeface="Open Sans"/>
                <a:cs typeface="Open Sans"/>
                <a:sym typeface="Open Sans"/>
              </a:rPr>
            </a:br>
            <a:r>
              <a:rPr lang="en-IN" sz="1600">
                <a:solidFill>
                  <a:schemeClr val="lt1"/>
                </a:solidFill>
                <a:latin typeface="Open Sans"/>
                <a:ea typeface="Open Sans"/>
                <a:cs typeface="Open Sans"/>
                <a:sym typeface="Open Sans"/>
              </a:rPr>
              <a:t>Calls for increased funding for research on youth gambling behavior and its underlying causes</a:t>
            </a:r>
            <a:endParaRPr sz="1600">
              <a:solidFill>
                <a:schemeClr val="lt1"/>
              </a:solidFill>
              <a:latin typeface="Open Sans"/>
              <a:ea typeface="Open Sans"/>
              <a:cs typeface="Open Sans"/>
              <a:sym typeface="Open Sans"/>
            </a:endParaRPr>
          </a:p>
          <a:p>
            <a:pPr indent="-330200" lvl="0" marL="457200" rtl="0" algn="l">
              <a:lnSpc>
                <a:spcPct val="115000"/>
              </a:lnSpc>
              <a:spcBef>
                <a:spcPts val="0"/>
              </a:spcBef>
              <a:spcAft>
                <a:spcPts val="0"/>
              </a:spcAft>
              <a:buClr>
                <a:schemeClr val="lt1"/>
              </a:buClr>
              <a:buSzPts val="1600"/>
              <a:buChar char="•"/>
            </a:pPr>
            <a:r>
              <a:rPr lang="en-IN" sz="1600">
                <a:solidFill>
                  <a:schemeClr val="lt1"/>
                </a:solidFill>
                <a:latin typeface="Open Sans"/>
                <a:ea typeface="Open Sans"/>
                <a:cs typeface="Open Sans"/>
                <a:sym typeface="Open Sans"/>
              </a:rPr>
              <a:t>Encourages partnerships between government agencies, community organizations, and the gaming industry to fund and implement youth-focused initiatives</a:t>
            </a:r>
            <a:endParaRPr sz="1600">
              <a:solidFill>
                <a:schemeClr val="lt1"/>
              </a:solidFill>
              <a:latin typeface="Open Sans"/>
              <a:ea typeface="Open Sans"/>
              <a:cs typeface="Open Sans"/>
              <a:sym typeface="Open Sans"/>
            </a:endParaRPr>
          </a:p>
          <a:p>
            <a:pPr indent="-330200" lvl="0" marL="457200" rtl="0" algn="l">
              <a:lnSpc>
                <a:spcPct val="115000"/>
              </a:lnSpc>
              <a:spcBef>
                <a:spcPts val="0"/>
              </a:spcBef>
              <a:spcAft>
                <a:spcPts val="0"/>
              </a:spcAft>
              <a:buClr>
                <a:schemeClr val="lt1"/>
              </a:buClr>
              <a:buSzPts val="1600"/>
              <a:buChar char="•"/>
            </a:pPr>
            <a:r>
              <a:rPr lang="en-IN" sz="1600">
                <a:solidFill>
                  <a:schemeClr val="lt1"/>
                </a:solidFill>
                <a:latin typeface="Open Sans"/>
                <a:ea typeface="Open Sans"/>
                <a:cs typeface="Open Sans"/>
                <a:sym typeface="Open Sans"/>
              </a:rPr>
              <a:t>Recognizes the influence of parental gambling behavior on youth and the need to address it as part of comprehensive prevention efforts.</a:t>
            </a:r>
            <a:endParaRPr sz="16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a:solidFill>
                <a:schemeClr val="lt1"/>
              </a:solidFill>
              <a:latin typeface="Open Sans"/>
              <a:ea typeface="Open Sans"/>
              <a:cs typeface="Open Sans"/>
              <a:sym typeface="Open Sans"/>
            </a:endParaRPr>
          </a:p>
          <a:p>
            <a:pPr indent="0" lvl="0" marL="0" marR="0" rtl="0" algn="l">
              <a:lnSpc>
                <a:spcPct val="150000"/>
              </a:lnSpc>
              <a:spcBef>
                <a:spcPts val="0"/>
              </a:spcBef>
              <a:spcAft>
                <a:spcPts val="0"/>
              </a:spcAft>
              <a:buNone/>
            </a:pPr>
            <a:r>
              <a:t/>
            </a:r>
            <a:endParaRPr>
              <a:solidFill>
                <a:schemeClr val="lt1"/>
              </a:solidFill>
              <a:latin typeface="Open Sans"/>
              <a:ea typeface="Open Sans"/>
              <a:cs typeface="Open Sans"/>
              <a:sym typeface="Open Sans"/>
            </a:endParaRPr>
          </a:p>
        </p:txBody>
      </p:sp>
      <p:pic>
        <p:nvPicPr>
          <p:cNvPr id="286" name="Google Shape;286;p18"/>
          <p:cNvPicPr preferRelativeResize="0"/>
          <p:nvPr/>
        </p:nvPicPr>
        <p:blipFill>
          <a:blip r:embed="rId3">
            <a:alphaModFix/>
          </a:blip>
          <a:stretch>
            <a:fillRect/>
          </a:stretch>
        </p:blipFill>
        <p:spPr>
          <a:xfrm>
            <a:off x="304800" y="381000"/>
            <a:ext cx="2736720" cy="1824024"/>
          </a:xfrm>
          <a:prstGeom prst="rect">
            <a:avLst/>
          </a:prstGeom>
          <a:noFill/>
          <a:ln>
            <a:noFill/>
          </a:ln>
        </p:spPr>
      </p:pic>
      <p:pic>
        <p:nvPicPr>
          <p:cNvPr id="287" name="Google Shape;287;p18"/>
          <p:cNvPicPr preferRelativeResize="0"/>
          <p:nvPr/>
        </p:nvPicPr>
        <p:blipFill>
          <a:blip r:embed="rId4">
            <a:alphaModFix/>
          </a:blip>
          <a:stretch>
            <a:fillRect/>
          </a:stretch>
        </p:blipFill>
        <p:spPr>
          <a:xfrm>
            <a:off x="8585300" y="457200"/>
            <a:ext cx="2934351" cy="1824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9"/>
          <p:cNvSpPr txBox="1"/>
          <p:nvPr/>
        </p:nvSpPr>
        <p:spPr>
          <a:xfrm>
            <a:off x="2207756" y="2097088"/>
            <a:ext cx="7776489" cy="1631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IN" sz="10000">
                <a:solidFill>
                  <a:schemeClr val="lt1"/>
                </a:solidFill>
                <a:latin typeface="Work Sans ExtraBold"/>
                <a:ea typeface="Work Sans ExtraBold"/>
                <a:cs typeface="Work Sans ExtraBold"/>
                <a:sym typeface="Work Sans ExtraBold"/>
              </a:rPr>
              <a:t>THANK YOU</a:t>
            </a:r>
            <a:endParaRPr/>
          </a:p>
        </p:txBody>
      </p:sp>
      <p:sp>
        <p:nvSpPr>
          <p:cNvPr id="293" name="Google Shape;293;p19"/>
          <p:cNvSpPr txBox="1"/>
          <p:nvPr/>
        </p:nvSpPr>
        <p:spPr>
          <a:xfrm>
            <a:off x="4310900" y="3728304"/>
            <a:ext cx="35703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IN" sz="2000">
                <a:solidFill>
                  <a:schemeClr val="lt1"/>
                </a:solidFill>
                <a:latin typeface="Work Sans SemiBold"/>
                <a:ea typeface="Work Sans SemiBold"/>
                <a:cs typeface="Work Sans SemiBold"/>
                <a:sym typeface="Work Sans SemiBold"/>
              </a:rPr>
              <a:t>Any Question?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